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0966eeb7-b4e1-3f4a-6372-eafd5dd5ab05}">
          <p14:sldIdLst>
            <p14:sldId id="256"/>
          </p14:sldIdLst>
        </p14:section>
        <p14:section name="Audit" id="{b4dca36f-7ecc-1f0c-e8f9-13d49304b5b8}">
          <p14:sldIdLst>
            <p14:sldId id="257"/>
            <p14:sldId id="258"/>
          </p14:sldIdLst>
        </p14:section>
        <p14:section name="Remediation" id="{5e1c55a3-80d5-2778-00a4-0bc559d75446}">
          <p14:sldIdLst>
            <p14:sldId id="259"/>
            <p14:sldId id="260"/>
          </p14:sldIdLst>
        </p14:section>
        <p14:section name="Evidence" id="{62e2e94f-fddc-2f43-8d45-3c1d7a2eed21}">
          <p14:sldIdLst>
            <p14:sldId id="261"/>
            <p14:sldId id="262"/>
            <p14:sldId id="263"/>
          </p14:sldIdLst>
        </p14:section>
        <p14:section name="Wrap-up" id="{4a80c93c-6085-b76e-340e-6b1225af7e1f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Global FedAvg loss</c:v>
                </c:pt>
              </c:strCache>
            </c:strRef>
          </c:tx>
          <c:spPr>
            <a:solidFill>
              <a:srgbClr val="22D3EE"/>
            </a:solidFill>
            <a:ln w="38100" cap="flat">
              <a:solidFill>
                <a:srgbClr val="22D3EE"/>
              </a:solidFill>
              <a:prstDash val="solid"/>
              <a:round/>
            </a:ln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22D3EE"/>
              </a:solidFill>
              <a:ln w="9525" cap="flat">
                <a:solidFill>
                  <a:srgbClr val="22D3E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Round 0</c:v>
                  </c:pt>
                  <c:pt idx="1">
                    <c:v>Round 1</c:v>
                  </c:pt>
                  <c:pt idx="2">
                    <c:v>Round 2</c:v>
                  </c:pt>
                  <c:pt idx="3">
                    <c:v>Round 3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1.3</c:v>
                </c:pt>
                <c:pt idx="1">
                  <c:v>1.0948</c:v>
                </c:pt>
                <c:pt idx="2">
                  <c:v>0.9371</c:v>
                </c:pt>
                <c:pt idx="3">
                  <c:v>0.8093</c:v>
                </c:pt>
              </c:numCache>
            </c:numRef>
          </c:val>
          <c:smooth val="0"/>
        </c:ser>
        <c:dLbls>
          <c:numFmt formatCode="0.000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9B6C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6"/>
          <c:min val="0.6"/>
        </c:scaling>
        <c:delete val="0"/>
        <c:axPos val="l"/>
        <c:majorGridlines>
          <c:spPr>
            <a:ln w="9525" cap="flat">
              <a:solidFill>
                <a:srgbClr val="2A356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9B6C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4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Payload (MB)</c:v>
                </c:pt>
              </c:strCache>
            </c:strRef>
          </c:tx>
          <c:spPr>
            <a:solidFill>
              <a:srgbClr val="F8717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8717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0A5F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4D399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Full 7B weights
13.35 GB</c:v>
                  </c:pt>
                  <c:pt idx="1">
                    <c:v>QLoRA adapter
4.01 MB</c:v>
                  </c:pt>
                  <c:pt idx="2">
                    <c:v>PQC envelope
4.3 KB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13351.44</c:v>
                </c:pt>
                <c:pt idx="1">
                  <c:v>4.01</c:v>
                </c:pt>
                <c:pt idx="2">
                  <c:v>0.0042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9B6C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logBase val="10"/>
          <c:orientation val="minMax"/>
          <c:max val="100000"/>
          <c:min val="0.0001"/>
        </c:scaling>
        <c:delete val="0"/>
        <c:axPos val="l"/>
        <c:majorGridlines>
          <c:spPr>
            <a:ln w="9525" cap="flat">
              <a:solidFill>
                <a:srgbClr val="2A35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9B6C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PQC-FedLoRA is our submission for ALG-CYBER-02. We inspect a deliberately vulnerable multi-node healthcare AI app, demonstrate three exploits safely, fix them at the root with NIST FIPS 203/204 post-quantum cryptography, and prove no regression. Headline results: 100% exploit neutralization, 0.0% false negatives, under 1.5 ms overhead, 99.2% WAN compression preserved.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audited three real architectural flaws spanning the transport, logic and output layers. VULN-01 is classical RSA/ECDHE transport exposed to Harvest-Now-Decrypt-Later. VULN-02 is a server that aggregates gradients with no provenance check. VULN-03 is an LLM output shown to physicians with no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controlled demos, all run safely in simulation. Demo 1: passive WAN tap plus simulated Shor's factorization recovers the private key. Demo 2: a rogue node injects forged weights and loss spikes from 1.3 to 8.7. Demo 3: an unpatched endpoint recommends combining Lisinopril and Losartan, risking hyperkalemia and renal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vulnerability is fixed at its root cause. ML-KEM (FIPS 203) replaces classical key exchange and is immune to Shor's and Grover's. ML-DSA (FIPS 204) signs every tensor hash so forged updates are dropped before FedAvg. The pre-display safety gate combines Shannon entropy and biomedical NLI to block lethal contraindications.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judges through the six steps. Steps 1 to 2 happen at the hospital: private LoRA training, then Dilithium signing and Kyber encryption. Steps 3 to 4 happen at the server: verify, drop forgeries, aggregate, broadcast. Steps 5 to 6 happen at the bedside: entropy scan plus PubMed evidence, then GREEN or RED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exploit is neutralized on retest: quantum eavesdropping 100% blocked with a 1,088-byte session-key ciphertext, poisoned updates 100% rejected with 0.8 ms signature verification, and 100 of 100 critical hallucinations blocked. Regression: under 1.5 ms overhead, ROUGE-L 0.962, and 100% of guideline-safe prescriptions still pass.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schematic of the dedicated ALG-CYBER-02 dashboard. Judges can open vulnerability cards, press Demonstrate Exploit and Retest, and watch the live terminal emit structured audit evidence: exploit status, regression checks and latency penalty. A spinner and timestamp show continuous monitoring.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the multi-layer security architecture from edge hospitals through the post-quantum layer, the central federated server, healthcare inference and the hallucination and reliability assessment. Top right: global FedAvg loss falls from 1.30 to 0.81 over federated rounds. Bottom right: payload per update drops from 13.35 GB for full weights to 4.01 MB for the adapter and about 4.3 KB for the PQC envelope.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stack has three layers: post-quantum cryptography (Kyber-768, Dilithium3, AES-256-GCM, SHA3-512), application microservices (FastAPI, Pydantic v2, Docker, Jinja2 and Tailwind), and AI integrity tooling (PEFT/QLoRA, BioGPT or DistilGPT-2, PubMed and UMLS grounding, Shannon entropy scan).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five rubric criteria are covered: identification of three real flaws, safe exploit demonstration, root-cause NIST fixes, retest and regression proof, and operational readiness. The live app is on Render, the code is open source on GitHub, and the retest runs with pytest tests/test_framework.py. Scan the QR code to try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ALGOTHON'26  |  ALG-CYBER-02  |  SECURE THE APPLICATION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234440"/>
            <a:ext cx="676656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ALGOTHON'26  |  ALG-CYBER-02  |  SECURE THE APPLICATION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spc="3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1" Type="http://schemas.openxmlformats.org/officeDocument/2006/relationships/image" Target="../media/image-8-1.jp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hyperlink" Target="https://hallucination-kup2.onrender.com/" TargetMode="External"/><Relationship Id="rId8" Type="http://schemas.openxmlformats.org/officeDocument/2006/relationships/hyperlink" Target="https://github.com/mritunjay065/hallucination" TargetMode="External"/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772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ALGOTHON'26  |  TRACK 2: ALG-CYBER-02 (SECURE THE APPLICATION)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23444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PQC-FedLoRA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Application Security Inspection, Safe Exploit Demonstration &amp; NIST Post-Quantum Cryptographic Remediation for Healthcare AI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7490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1"/>
                </a:solidFill>
              </a:rPr>
              <a:t>Zero Trust defense across transport, logic &amp; UI layers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062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Live demo on Render  +  GitHub test suites</a:t>
            </a:r>
            <a:endParaRPr lang="en-US" sz="1400" dirty="0"/>
          </a:p>
        </p:txBody>
      </p:sp>
      <p:sp>
        <p:nvSpPr>
          <p:cNvPr id="7" name="orbit-outer"/>
          <p:cNvSpPr/>
          <p:nvPr/>
        </p:nvSpPr>
        <p:spPr>
          <a:xfrm>
            <a:off x="7635240" y="731520"/>
            <a:ext cx="3840480" cy="3840480"/>
          </a:xfrm>
          <a:prstGeom prst="ellipse">
            <a:avLst/>
          </a:prstGeom>
          <a:solidFill>
            <a:schemeClr val="tx1">
              <a:alpha val="0"/>
            </a:schemeClr>
          </a:solidFill>
          <a:ln w="15875">
            <a:solidFill>
              <a:schemeClr val="accent1"/>
            </a:solidFill>
            <a:prstDash val="dash"/>
          </a:ln>
        </p:spPr>
      </p:sp>
      <p:sp>
        <p:nvSpPr>
          <p:cNvPr id="8" name="orbit-mid"/>
          <p:cNvSpPr/>
          <p:nvPr/>
        </p:nvSpPr>
        <p:spPr>
          <a:xfrm>
            <a:off x="8183880" y="1280160"/>
            <a:ext cx="2743200" cy="274320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9" name="icon-circle"/>
          <p:cNvSpPr/>
          <p:nvPr/>
        </p:nvSpPr>
        <p:spPr>
          <a:xfrm>
            <a:off x="8686800" y="1783080"/>
            <a:ext cx="1737360" cy="1737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0" descr="FaShield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1140" y="2217420"/>
            <a:ext cx="868680" cy="868680"/>
          </a:xfrm>
          <a:prstGeom prst="rect">
            <a:avLst/>
          </a:prstGeom>
        </p:spPr>
      </p:pic>
      <p:sp>
        <p:nvSpPr>
          <p:cNvPr id="11" name="icon-circle"/>
          <p:cNvSpPr/>
          <p:nvPr/>
        </p:nvSpPr>
        <p:spPr>
          <a:xfrm>
            <a:off x="7525512" y="1325880"/>
            <a:ext cx="731520" cy="7315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2" name="Image 1" descr="FaHospit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392" y="1508760"/>
            <a:ext cx="365760" cy="365760"/>
          </a:xfrm>
          <a:prstGeom prst="rect">
            <a:avLst/>
          </a:prstGeom>
        </p:spPr>
      </p:pic>
      <p:sp>
        <p:nvSpPr>
          <p:cNvPr id="13" name="icon-circle"/>
          <p:cNvSpPr/>
          <p:nvPr/>
        </p:nvSpPr>
        <p:spPr>
          <a:xfrm>
            <a:off x="10853928" y="13258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Image 2" descr="FaKe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6808" y="1508760"/>
            <a:ext cx="365760" cy="365760"/>
          </a:xfrm>
          <a:prstGeom prst="rect">
            <a:avLst/>
          </a:prstGeom>
        </p:spPr>
      </p:pic>
      <p:sp>
        <p:nvSpPr>
          <p:cNvPr id="15" name="icon-circle"/>
          <p:cNvSpPr/>
          <p:nvPr/>
        </p:nvSpPr>
        <p:spPr>
          <a:xfrm>
            <a:off x="9189720" y="4206240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6" name="Image 3" descr="FaUserM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0" y="4389120"/>
            <a:ext cx="365760" cy="365760"/>
          </a:xfrm>
          <a:prstGeom prst="rect">
            <a:avLst/>
          </a:prstGeom>
        </p:spPr>
      </p:pic>
      <p:sp>
        <p:nvSpPr>
          <p:cNvPr id="17" name="stat-card"/>
          <p:cNvSpPr/>
          <p:nvPr/>
        </p:nvSpPr>
        <p:spPr>
          <a:xfrm>
            <a:off x="548640" y="5120640"/>
            <a:ext cx="2606040" cy="1143000"/>
          </a:xfrm>
          <a:prstGeom prst="roundRect">
            <a:avLst>
              <a:gd name="adj" fmla="val 96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777240" y="52120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5"/>
                </a:solidFill>
              </a:rPr>
              <a:t>100%</a:t>
            </a:r>
            <a:endParaRPr lang="en-US" sz="3200" dirty="0"/>
          </a:p>
        </p:txBody>
      </p:sp>
      <p:sp>
        <p:nvSpPr>
          <p:cNvPr id="19" name="Text 13"/>
          <p:cNvSpPr txBox="1"/>
          <p:nvPr/>
        </p:nvSpPr>
        <p:spPr>
          <a:xfrm>
            <a:off x="777240" y="578815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Exploit neutralization</a:t>
            </a:r>
            <a:endParaRPr lang="en-US" sz="1200" dirty="0"/>
          </a:p>
        </p:txBody>
      </p:sp>
      <p:sp>
        <p:nvSpPr>
          <p:cNvPr id="20" name="stat-card"/>
          <p:cNvSpPr/>
          <p:nvPr/>
        </p:nvSpPr>
        <p:spPr>
          <a:xfrm>
            <a:off x="3368040" y="5120640"/>
            <a:ext cx="2606040" cy="1143000"/>
          </a:xfrm>
          <a:prstGeom prst="roundRect">
            <a:avLst>
              <a:gd name="adj" fmla="val 96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3596640" y="52120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0.0%</a:t>
            </a:r>
            <a:endParaRPr lang="en-US" sz="3200" dirty="0"/>
          </a:p>
        </p:txBody>
      </p:sp>
      <p:sp>
        <p:nvSpPr>
          <p:cNvPr id="22" name="Text 16"/>
          <p:cNvSpPr txBox="1"/>
          <p:nvPr/>
        </p:nvSpPr>
        <p:spPr>
          <a:xfrm>
            <a:off x="3596640" y="578815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False negatives</a:t>
            </a:r>
            <a:endParaRPr lang="en-US" sz="1200" dirty="0"/>
          </a:p>
        </p:txBody>
      </p:sp>
      <p:sp>
        <p:nvSpPr>
          <p:cNvPr id="23" name="stat-card"/>
          <p:cNvSpPr/>
          <p:nvPr/>
        </p:nvSpPr>
        <p:spPr>
          <a:xfrm>
            <a:off x="6187440" y="5120640"/>
            <a:ext cx="2606040" cy="1143000"/>
          </a:xfrm>
          <a:prstGeom prst="roundRect">
            <a:avLst>
              <a:gd name="adj" fmla="val 96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6416040" y="52120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&lt; 1.5 ms</a:t>
            </a:r>
            <a:endParaRPr lang="en-US" sz="3200" dirty="0"/>
          </a:p>
        </p:txBody>
      </p:sp>
      <p:sp>
        <p:nvSpPr>
          <p:cNvPr id="25" name="Text 19"/>
          <p:cNvSpPr txBox="1"/>
          <p:nvPr/>
        </p:nvSpPr>
        <p:spPr>
          <a:xfrm>
            <a:off x="6416040" y="578815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Post-remediation latency overhead</a:t>
            </a:r>
            <a:endParaRPr lang="en-US" sz="1200" dirty="0"/>
          </a:p>
        </p:txBody>
      </p:sp>
      <p:sp>
        <p:nvSpPr>
          <p:cNvPr id="26" name="stat-card"/>
          <p:cNvSpPr/>
          <p:nvPr/>
        </p:nvSpPr>
        <p:spPr>
          <a:xfrm>
            <a:off x="9006840" y="5120640"/>
            <a:ext cx="2606040" cy="1143000"/>
          </a:xfrm>
          <a:prstGeom prst="roundRect">
            <a:avLst>
              <a:gd name="adj" fmla="val 96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9235440" y="52120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4"/>
                </a:solidFill>
              </a:rPr>
              <a:t>99.2%</a:t>
            </a:r>
            <a:endParaRPr lang="en-US" sz="3200" dirty="0"/>
          </a:p>
        </p:txBody>
      </p:sp>
      <p:sp>
        <p:nvSpPr>
          <p:cNvPr id="28" name="Text 22"/>
          <p:cNvSpPr txBox="1"/>
          <p:nvPr/>
        </p:nvSpPr>
        <p:spPr>
          <a:xfrm>
            <a:off x="9235440" y="578815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WAN bandwidth compression preserved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01  |  APPLICATION SECURITY INSPECTION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3 Critical Weaknesses Audited</a:t>
            </a:r>
            <a:endParaRPr lang="en-US" sz="3600" dirty="0"/>
          </a:p>
        </p:txBody>
      </p:sp>
      <p:sp>
        <p:nvSpPr>
          <p:cNvPr id="5" name="vuln-card"/>
          <p:cNvSpPr/>
          <p:nvPr/>
        </p:nvSpPr>
        <p:spPr>
          <a:xfrm>
            <a:off x="548640" y="1554480"/>
            <a:ext cx="3566160" cy="466344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icon-circle"/>
          <p:cNvSpPr/>
          <p:nvPr/>
        </p:nvSpPr>
        <p:spPr>
          <a:xfrm>
            <a:off x="822960" y="182880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7" name="Image 0" descr="FaUnlock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2000250"/>
            <a:ext cx="342900" cy="3429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45920" y="18562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VULN-01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1645920" y="21579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CWE-327 / CWE-326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2880360" y="175564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600" b="1" dirty="0">
                <a:solidFill>
                  <a:schemeClr val="accent3"/>
                </a:solidFill>
              </a:rPr>
              <a:t>9.8</a:t>
            </a:r>
            <a:endParaRPr lang="en-US" sz="3600" dirty="0"/>
          </a:p>
        </p:txBody>
      </p:sp>
      <p:sp>
        <p:nvSpPr>
          <p:cNvPr id="11" name="Text 7"/>
          <p:cNvSpPr txBox="1"/>
          <p:nvPr/>
        </p:nvSpPr>
        <p:spPr>
          <a:xfrm>
            <a:off x="2606040" y="230428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CVSS CRITICAL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27432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Classical Transport Weakness</a:t>
            </a:r>
            <a:endParaRPr lang="en-US" sz="2000" dirty="0"/>
          </a:p>
        </p:txBody>
      </p:sp>
      <p:sp>
        <p:nvSpPr>
          <p:cNvPr id="13" name="vuln-row"/>
          <p:cNvSpPr/>
          <p:nvPr/>
        </p:nvSpPr>
        <p:spPr>
          <a:xfrm>
            <a:off x="777240" y="3474720"/>
            <a:ext cx="3108960" cy="804672"/>
          </a:xfrm>
          <a:prstGeom prst="roundRect">
            <a:avLst>
              <a:gd name="adj" fmla="val 1363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914400" y="35478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</a:rPr>
              <a:t>WEAKNESS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914400" y="3730752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Transport uses classical RSA-2048 / ECDHE</a:t>
            </a:r>
            <a:endParaRPr lang="en-US" sz="1300" dirty="0"/>
          </a:p>
        </p:txBody>
      </p:sp>
      <p:sp>
        <p:nvSpPr>
          <p:cNvPr id="16" name="vuln-row"/>
          <p:cNvSpPr/>
          <p:nvPr/>
        </p:nvSpPr>
        <p:spPr>
          <a:xfrm>
            <a:off x="777240" y="4370832"/>
            <a:ext cx="3108960" cy="804672"/>
          </a:xfrm>
          <a:prstGeom prst="roundRect">
            <a:avLst>
              <a:gd name="adj" fmla="val 1363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14400" y="444398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</a:rPr>
              <a:t>ATTACK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914400" y="4626864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Harvest-Now-Decrypt-Later: intercept today, decrypt with Shor's later</a:t>
            </a:r>
            <a:endParaRPr lang="en-US" sz="1300" dirty="0"/>
          </a:p>
        </p:txBody>
      </p:sp>
      <p:sp>
        <p:nvSpPr>
          <p:cNvPr id="19" name="vuln-row"/>
          <p:cNvSpPr/>
          <p:nvPr/>
        </p:nvSpPr>
        <p:spPr>
          <a:xfrm>
            <a:off x="777240" y="5266944"/>
            <a:ext cx="3108960" cy="804672"/>
          </a:xfrm>
          <a:prstGeom prst="roundRect">
            <a:avLst>
              <a:gd name="adj" fmla="val 1363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914400" y="534009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</a:rPr>
              <a:t>IMPACT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914400" y="5522976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Gradient inversion leaks raw patient health records</a:t>
            </a:r>
            <a:endParaRPr lang="en-US" sz="1300" dirty="0"/>
          </a:p>
        </p:txBody>
      </p:sp>
      <p:sp>
        <p:nvSpPr>
          <p:cNvPr id="22" name="vuln-card"/>
          <p:cNvSpPr/>
          <p:nvPr/>
        </p:nvSpPr>
        <p:spPr>
          <a:xfrm>
            <a:off x="4297680" y="1554480"/>
            <a:ext cx="3566160" cy="466344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3" name="icon-circle"/>
          <p:cNvSpPr/>
          <p:nvPr/>
        </p:nvSpPr>
        <p:spPr>
          <a:xfrm>
            <a:off x="4572000" y="1828800"/>
            <a:ext cx="685800" cy="6858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4" name="Image 1" descr="FaUserSecre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3450" y="2000250"/>
            <a:ext cx="342900" cy="34290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5394960" y="18562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VULN-02</a:t>
            </a:r>
            <a:endParaRPr lang="en-US" sz="1600" dirty="0"/>
          </a:p>
        </p:txBody>
      </p:sp>
      <p:sp>
        <p:nvSpPr>
          <p:cNvPr id="26" name="Text 21"/>
          <p:cNvSpPr txBox="1"/>
          <p:nvPr/>
        </p:nvSpPr>
        <p:spPr>
          <a:xfrm>
            <a:off x="5394960" y="21579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CWE-345 / CWE-353</a:t>
            </a:r>
            <a:endParaRPr lang="en-US" sz="1100" dirty="0"/>
          </a:p>
        </p:txBody>
      </p:sp>
      <p:sp>
        <p:nvSpPr>
          <p:cNvPr id="27" name="Text 22"/>
          <p:cNvSpPr txBox="1"/>
          <p:nvPr/>
        </p:nvSpPr>
        <p:spPr>
          <a:xfrm>
            <a:off x="6629400" y="175564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600" b="1" dirty="0">
                <a:solidFill>
                  <a:schemeClr val="accent4"/>
                </a:solidFill>
              </a:rPr>
              <a:t>8.5</a:t>
            </a:r>
            <a:endParaRPr lang="en-US" sz="3600" dirty="0"/>
          </a:p>
        </p:txBody>
      </p:sp>
      <p:sp>
        <p:nvSpPr>
          <p:cNvPr id="28" name="Text 23"/>
          <p:cNvSpPr txBox="1"/>
          <p:nvPr/>
        </p:nvSpPr>
        <p:spPr>
          <a:xfrm>
            <a:off x="6355080" y="230428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CVSS HIGH</a:t>
            </a:r>
            <a:endParaRPr lang="en-US" sz="1000" dirty="0"/>
          </a:p>
        </p:txBody>
      </p:sp>
      <p:sp>
        <p:nvSpPr>
          <p:cNvPr id="29" name="Text 24"/>
          <p:cNvSpPr txBox="1"/>
          <p:nvPr/>
        </p:nvSpPr>
        <p:spPr>
          <a:xfrm>
            <a:off x="4572000" y="27432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Missing Provenance Verification</a:t>
            </a:r>
            <a:endParaRPr lang="en-US" sz="2000" dirty="0"/>
          </a:p>
        </p:txBody>
      </p:sp>
      <p:sp>
        <p:nvSpPr>
          <p:cNvPr id="30" name="vuln-row"/>
          <p:cNvSpPr/>
          <p:nvPr/>
        </p:nvSpPr>
        <p:spPr>
          <a:xfrm>
            <a:off x="4526280" y="3474720"/>
            <a:ext cx="3108960" cy="804672"/>
          </a:xfrm>
          <a:prstGeom prst="roundRect">
            <a:avLst>
              <a:gd name="adj" fmla="val 1363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4663440" y="35478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WEAKNESS</a:t>
            </a:r>
            <a:endParaRPr lang="en-US" sz="1000" dirty="0"/>
          </a:p>
        </p:txBody>
      </p:sp>
      <p:sp>
        <p:nvSpPr>
          <p:cNvPr id="32" name="Text 27"/>
          <p:cNvSpPr txBox="1"/>
          <p:nvPr/>
        </p:nvSpPr>
        <p:spPr>
          <a:xfrm>
            <a:off x="4663440" y="3730752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Server accepts gradient deltas with no signature or provenance check</a:t>
            </a:r>
            <a:endParaRPr lang="en-US" sz="1300" dirty="0"/>
          </a:p>
        </p:txBody>
      </p:sp>
      <p:sp>
        <p:nvSpPr>
          <p:cNvPr id="33" name="vuln-row"/>
          <p:cNvSpPr/>
          <p:nvPr/>
        </p:nvSpPr>
        <p:spPr>
          <a:xfrm>
            <a:off x="4526280" y="4370832"/>
            <a:ext cx="3108960" cy="804672"/>
          </a:xfrm>
          <a:prstGeom prst="roundRect">
            <a:avLst>
              <a:gd name="adj" fmla="val 1363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4663440" y="444398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ATTACK</a:t>
            </a:r>
            <a:endParaRPr lang="en-US" sz="1000" dirty="0"/>
          </a:p>
        </p:txBody>
      </p:sp>
      <p:sp>
        <p:nvSpPr>
          <p:cNvPr id="35" name="Text 30"/>
          <p:cNvSpPr txBox="1"/>
          <p:nvPr/>
        </p:nvSpPr>
        <p:spPr>
          <a:xfrm>
            <a:off x="4663440" y="4626864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Rogue client or MITM injects scaled malicious gradients (+5.0)</a:t>
            </a:r>
            <a:endParaRPr lang="en-US" sz="1300" dirty="0"/>
          </a:p>
        </p:txBody>
      </p:sp>
      <p:sp>
        <p:nvSpPr>
          <p:cNvPr id="36" name="vuln-row"/>
          <p:cNvSpPr/>
          <p:nvPr/>
        </p:nvSpPr>
        <p:spPr>
          <a:xfrm>
            <a:off x="4526280" y="5266944"/>
            <a:ext cx="3108960" cy="804672"/>
          </a:xfrm>
          <a:prstGeom prst="roundRect">
            <a:avLst>
              <a:gd name="adj" fmla="val 1363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4663440" y="534009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IMPACT</a:t>
            </a:r>
            <a:endParaRPr lang="en-US" sz="1000" dirty="0"/>
          </a:p>
        </p:txBody>
      </p:sp>
      <p:sp>
        <p:nvSpPr>
          <p:cNvPr id="38" name="Text 33"/>
          <p:cNvSpPr txBox="1"/>
          <p:nvPr/>
        </p:nvSpPr>
        <p:spPr>
          <a:xfrm>
            <a:off x="4663440" y="5522976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Global model destabilizes; multi-hospital diagnostics degrade</a:t>
            </a:r>
            <a:endParaRPr lang="en-US" sz="1300" dirty="0"/>
          </a:p>
        </p:txBody>
      </p:sp>
      <p:sp>
        <p:nvSpPr>
          <p:cNvPr id="39" name="vuln-card"/>
          <p:cNvSpPr/>
          <p:nvPr/>
        </p:nvSpPr>
        <p:spPr>
          <a:xfrm>
            <a:off x="8046720" y="1554480"/>
            <a:ext cx="3566160" cy="466344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0" name="icon-circle"/>
          <p:cNvSpPr/>
          <p:nvPr/>
        </p:nvSpPr>
        <p:spPr>
          <a:xfrm>
            <a:off x="8321040" y="182880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1" name="Image 2" descr="FaExclamationTriang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490" y="2000250"/>
            <a:ext cx="342900" cy="342900"/>
          </a:xfrm>
          <a:prstGeom prst="rect">
            <a:avLst/>
          </a:prstGeom>
        </p:spPr>
      </p:pic>
      <p:sp>
        <p:nvSpPr>
          <p:cNvPr id="42" name="Text 36"/>
          <p:cNvSpPr txBox="1"/>
          <p:nvPr/>
        </p:nvSpPr>
        <p:spPr>
          <a:xfrm>
            <a:off x="9144000" y="18562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VULN-03</a:t>
            </a:r>
            <a:endParaRPr lang="en-US" sz="1600" dirty="0"/>
          </a:p>
        </p:txBody>
      </p:sp>
      <p:sp>
        <p:nvSpPr>
          <p:cNvPr id="43" name="Text 37"/>
          <p:cNvSpPr txBox="1"/>
          <p:nvPr/>
        </p:nvSpPr>
        <p:spPr>
          <a:xfrm>
            <a:off x="9144000" y="21579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CWE-20 / OWASP LLM01</a:t>
            </a:r>
            <a:endParaRPr lang="en-US" sz="1100" dirty="0"/>
          </a:p>
        </p:txBody>
      </p:sp>
      <p:sp>
        <p:nvSpPr>
          <p:cNvPr id="44" name="Text 38"/>
          <p:cNvSpPr txBox="1"/>
          <p:nvPr/>
        </p:nvSpPr>
        <p:spPr>
          <a:xfrm>
            <a:off x="10378440" y="175564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9.1</a:t>
            </a:r>
            <a:endParaRPr lang="en-US" sz="3600" dirty="0"/>
          </a:p>
        </p:txBody>
      </p:sp>
      <p:sp>
        <p:nvSpPr>
          <p:cNvPr id="45" name="Text 39"/>
          <p:cNvSpPr txBox="1"/>
          <p:nvPr/>
        </p:nvSpPr>
        <p:spPr>
          <a:xfrm>
            <a:off x="10104120" y="230428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CVSS CRITICAL</a:t>
            </a:r>
            <a:endParaRPr lang="en-US" sz="1000" dirty="0"/>
          </a:p>
        </p:txBody>
      </p:sp>
      <p:sp>
        <p:nvSpPr>
          <p:cNvPr id="46" name="Text 40"/>
          <p:cNvSpPr txBox="1"/>
          <p:nvPr/>
        </p:nvSpPr>
        <p:spPr>
          <a:xfrm>
            <a:off x="8321040" y="27432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Unsanitized Output Generation</a:t>
            </a:r>
            <a:endParaRPr lang="en-US" sz="2000" dirty="0"/>
          </a:p>
        </p:txBody>
      </p:sp>
      <p:sp>
        <p:nvSpPr>
          <p:cNvPr id="47" name="vuln-row"/>
          <p:cNvSpPr/>
          <p:nvPr/>
        </p:nvSpPr>
        <p:spPr>
          <a:xfrm>
            <a:off x="8275320" y="3474720"/>
            <a:ext cx="3108960" cy="804672"/>
          </a:xfrm>
          <a:prstGeom prst="roundRect">
            <a:avLst>
              <a:gd name="adj" fmla="val 1363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8" name="Text 42"/>
          <p:cNvSpPr txBox="1"/>
          <p:nvPr/>
        </p:nvSpPr>
        <p:spPr>
          <a:xfrm>
            <a:off x="8412480" y="35478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WEAKNESS</a:t>
            </a:r>
            <a:endParaRPr lang="en-US" sz="1000" dirty="0"/>
          </a:p>
        </p:txBody>
      </p:sp>
      <p:sp>
        <p:nvSpPr>
          <p:cNvPr id="49" name="Text 43"/>
          <p:cNvSpPr txBox="1"/>
          <p:nvPr/>
        </p:nvSpPr>
        <p:spPr>
          <a:xfrm>
            <a:off x="8412480" y="3730752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LLM responses reach bedside physicians with no validation</a:t>
            </a:r>
            <a:endParaRPr lang="en-US" sz="1300" dirty="0"/>
          </a:p>
        </p:txBody>
      </p:sp>
      <p:sp>
        <p:nvSpPr>
          <p:cNvPr id="50" name="vuln-row"/>
          <p:cNvSpPr/>
          <p:nvPr/>
        </p:nvSpPr>
        <p:spPr>
          <a:xfrm>
            <a:off x="8275320" y="4370832"/>
            <a:ext cx="3108960" cy="804672"/>
          </a:xfrm>
          <a:prstGeom prst="roundRect">
            <a:avLst>
              <a:gd name="adj" fmla="val 1363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1" name="Text 45"/>
          <p:cNvSpPr txBox="1"/>
          <p:nvPr/>
        </p:nvSpPr>
        <p:spPr>
          <a:xfrm>
            <a:off x="8412480" y="444398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ATTACK</a:t>
            </a:r>
            <a:endParaRPr lang="en-US" sz="1000" dirty="0"/>
          </a:p>
        </p:txBody>
      </p:sp>
      <p:sp>
        <p:nvSpPr>
          <p:cNvPr id="52" name="Text 46"/>
          <p:cNvSpPr txBox="1"/>
          <p:nvPr/>
        </p:nvSpPr>
        <p:spPr>
          <a:xfrm>
            <a:off x="8412480" y="4626864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Invents plausible, fatal contraindications (e.g. NSAIDs in acute heart failure)</a:t>
            </a:r>
            <a:endParaRPr lang="en-US" sz="1300" dirty="0"/>
          </a:p>
        </p:txBody>
      </p:sp>
      <p:sp>
        <p:nvSpPr>
          <p:cNvPr id="53" name="vuln-row"/>
          <p:cNvSpPr/>
          <p:nvPr/>
        </p:nvSpPr>
        <p:spPr>
          <a:xfrm>
            <a:off x="8275320" y="5266944"/>
            <a:ext cx="3108960" cy="804672"/>
          </a:xfrm>
          <a:prstGeom prst="roundRect">
            <a:avLst>
              <a:gd name="adj" fmla="val 1363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4" name="Text 48"/>
          <p:cNvSpPr txBox="1"/>
          <p:nvPr/>
        </p:nvSpPr>
        <p:spPr>
          <a:xfrm>
            <a:off x="8412480" y="534009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IMPACT</a:t>
            </a:r>
            <a:endParaRPr lang="en-US" sz="1000" dirty="0"/>
          </a:p>
        </p:txBody>
      </p:sp>
      <p:sp>
        <p:nvSpPr>
          <p:cNvPr id="55" name="Text 49"/>
          <p:cNvSpPr txBox="1"/>
          <p:nvPr/>
        </p:nvSpPr>
        <p:spPr>
          <a:xfrm>
            <a:off x="8412480" y="5522976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Erroneous AI prescriptions cause immediate clinical harm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02  |  CONTROLLED ADVERSARIAL TESTING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Safe Exploit Demonstration</a:t>
            </a:r>
            <a:endParaRPr lang="en-US" sz="3600" dirty="0"/>
          </a:p>
        </p:txBody>
      </p:sp>
      <p:sp>
        <p:nvSpPr>
          <p:cNvPr id="5" name="demo-row"/>
          <p:cNvSpPr/>
          <p:nvPr/>
        </p:nvSpPr>
        <p:spPr>
          <a:xfrm>
            <a:off x="548640" y="1554480"/>
            <a:ext cx="1106424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icon-circle"/>
          <p:cNvSpPr/>
          <p:nvPr/>
        </p:nvSpPr>
        <p:spPr>
          <a:xfrm>
            <a:off x="777240" y="1755648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7" name="Image 0" descr="FaNetworkWir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904238"/>
            <a:ext cx="297180" cy="2971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901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DEMO 1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4414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HNDL Passive Eavesdropping</a:t>
            </a:r>
            <a:endParaRPr lang="en-US" sz="1600" dirty="0"/>
          </a:p>
        </p:txBody>
      </p:sp>
      <p:sp>
        <p:nvSpPr>
          <p:cNvPr id="10" name="chain-box"/>
          <p:cNvSpPr/>
          <p:nvPr/>
        </p:nvSpPr>
        <p:spPr>
          <a:xfrm>
            <a:off x="3291840" y="1737360"/>
            <a:ext cx="2514600" cy="109728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429000" y="18288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ATTACK VECTOR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3429000" y="2039112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Passive WAN tap capturing weight exchanges</a:t>
            </a:r>
            <a:endParaRPr lang="en-US" sz="1300" dirty="0"/>
          </a:p>
        </p:txBody>
      </p:sp>
      <p:sp>
        <p:nvSpPr>
          <p:cNvPr id="13" name="arrow"/>
          <p:cNvSpPr/>
          <p:nvPr/>
        </p:nvSpPr>
        <p:spPr>
          <a:xfrm>
            <a:off x="5852160" y="2148840"/>
            <a:ext cx="182880" cy="256032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chain-box"/>
          <p:cNvSpPr/>
          <p:nvPr/>
        </p:nvSpPr>
        <p:spPr>
          <a:xfrm>
            <a:off x="6080760" y="1737360"/>
            <a:ext cx="2514600" cy="109728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217920" y="18288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EXPLOIT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6217920" y="2039112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Simulated Shor's factorization derives private key d from N in polynomial time</a:t>
            </a:r>
            <a:endParaRPr lang="en-US" sz="1300" dirty="0"/>
          </a:p>
        </p:txBody>
      </p:sp>
      <p:sp>
        <p:nvSpPr>
          <p:cNvPr id="17" name="arrow"/>
          <p:cNvSpPr/>
          <p:nvPr/>
        </p:nvSpPr>
        <p:spPr>
          <a:xfrm>
            <a:off x="8641080" y="2148840"/>
            <a:ext cx="182880" cy="256032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chain-box"/>
          <p:cNvSpPr/>
          <p:nvPr/>
        </p:nvSpPr>
        <p:spPr>
          <a:xfrm>
            <a:off x="8869680" y="1737360"/>
            <a:ext cx="2514600" cy="109728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9006840" y="18288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</a:rPr>
              <a:t>IMPACT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9006840" y="2039112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Hospital EHR embeddings reverse-engineered from decrypted tensors</a:t>
            </a:r>
            <a:endParaRPr lang="en-US" sz="1300" dirty="0"/>
          </a:p>
        </p:txBody>
      </p:sp>
      <p:sp>
        <p:nvSpPr>
          <p:cNvPr id="21" name="demo-row"/>
          <p:cNvSpPr/>
          <p:nvPr/>
        </p:nvSpPr>
        <p:spPr>
          <a:xfrm>
            <a:off x="548640" y="3154680"/>
            <a:ext cx="1106424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icon-circle"/>
          <p:cNvSpPr/>
          <p:nvPr/>
        </p:nvSpPr>
        <p:spPr>
          <a:xfrm>
            <a:off x="777240" y="3355848"/>
            <a:ext cx="594360" cy="5943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3" name="Image 1" descr="FaBu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830" y="3504438"/>
            <a:ext cx="297180" cy="29718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1508760" y="35021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DEMO 2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777240" y="40416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Rogue Node Delta Poisoning</a:t>
            </a:r>
            <a:endParaRPr lang="en-US" sz="1600" dirty="0"/>
          </a:p>
        </p:txBody>
      </p:sp>
      <p:sp>
        <p:nvSpPr>
          <p:cNvPr id="26" name="chain-box"/>
          <p:cNvSpPr/>
          <p:nvPr/>
        </p:nvSpPr>
        <p:spPr>
          <a:xfrm>
            <a:off x="3291840" y="3337560"/>
            <a:ext cx="2514600" cy="109728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3429000" y="34290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ATTACK VECTOR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3429000" y="3639312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Rogue node injects crafted weights into the FedAvg pool</a:t>
            </a:r>
            <a:endParaRPr lang="en-US" sz="1300" dirty="0"/>
          </a:p>
        </p:txBody>
      </p:sp>
      <p:sp>
        <p:nvSpPr>
          <p:cNvPr id="29" name="arrow"/>
          <p:cNvSpPr/>
          <p:nvPr/>
        </p:nvSpPr>
        <p:spPr>
          <a:xfrm>
            <a:off x="5852160" y="3749040"/>
            <a:ext cx="182880" cy="25603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0" name="chain-box"/>
          <p:cNvSpPr/>
          <p:nvPr/>
        </p:nvSpPr>
        <p:spPr>
          <a:xfrm>
            <a:off x="6080760" y="3337560"/>
            <a:ext cx="2514600" cy="109728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6217920" y="34290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EXPLOIT</a:t>
            </a:r>
            <a:endParaRPr lang="en-US" sz="1000" dirty="0"/>
          </a:p>
        </p:txBody>
      </p:sp>
      <p:sp>
        <p:nvSpPr>
          <p:cNvPr id="32" name="Text 27"/>
          <p:cNvSpPr txBox="1"/>
          <p:nvPr/>
        </p:nvSpPr>
        <p:spPr>
          <a:xfrm>
            <a:off x="6217920" y="3639312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Server aggregates the forged tensor: no signature check</a:t>
            </a:r>
            <a:endParaRPr lang="en-US" sz="1300" dirty="0"/>
          </a:p>
        </p:txBody>
      </p:sp>
      <p:sp>
        <p:nvSpPr>
          <p:cNvPr id="33" name="arrow"/>
          <p:cNvSpPr/>
          <p:nvPr/>
        </p:nvSpPr>
        <p:spPr>
          <a:xfrm>
            <a:off x="8641080" y="3749040"/>
            <a:ext cx="182880" cy="25603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4" name="chain-box"/>
          <p:cNvSpPr/>
          <p:nvPr/>
        </p:nvSpPr>
        <p:spPr>
          <a:xfrm>
            <a:off x="8869680" y="3337560"/>
            <a:ext cx="2514600" cy="109728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9006840" y="34290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</a:rPr>
              <a:t>IMPACT</a:t>
            </a:r>
            <a:endParaRPr lang="en-US" sz="1000" dirty="0"/>
          </a:p>
        </p:txBody>
      </p:sp>
      <p:sp>
        <p:nvSpPr>
          <p:cNvPr id="36" name="Text 31"/>
          <p:cNvSpPr txBox="1"/>
          <p:nvPr/>
        </p:nvSpPr>
        <p:spPr>
          <a:xfrm>
            <a:off x="9006840" y="3639312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Loss spikes 1.3 → 8.7; diagnostics fail across all edge clinics</a:t>
            </a:r>
            <a:endParaRPr lang="en-US" sz="1300" dirty="0"/>
          </a:p>
        </p:txBody>
      </p:sp>
      <p:sp>
        <p:nvSpPr>
          <p:cNvPr id="37" name="demo-row"/>
          <p:cNvSpPr/>
          <p:nvPr/>
        </p:nvSpPr>
        <p:spPr>
          <a:xfrm>
            <a:off x="548640" y="4754880"/>
            <a:ext cx="1106424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8" name="icon-circle"/>
          <p:cNvSpPr/>
          <p:nvPr/>
        </p:nvSpPr>
        <p:spPr>
          <a:xfrm>
            <a:off x="777240" y="4956048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9" name="Image 2" descr="FaPill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5104638"/>
            <a:ext cx="297180" cy="297180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1508760" y="51023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DEMO 3</a:t>
            </a:r>
            <a:endParaRPr lang="en-US" sz="1400" dirty="0"/>
          </a:p>
        </p:txBody>
      </p:sp>
      <p:sp>
        <p:nvSpPr>
          <p:cNvPr id="41" name="Text 35"/>
          <p:cNvSpPr txBox="1"/>
          <p:nvPr/>
        </p:nvSpPr>
        <p:spPr>
          <a:xfrm>
            <a:off x="777240" y="56418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Prompt Hallucination Bypass</a:t>
            </a:r>
            <a:endParaRPr lang="en-US" sz="1600" dirty="0"/>
          </a:p>
        </p:txBody>
      </p:sp>
      <p:sp>
        <p:nvSpPr>
          <p:cNvPr id="42" name="chain-box"/>
          <p:cNvSpPr/>
          <p:nvPr/>
        </p:nvSpPr>
        <p:spPr>
          <a:xfrm>
            <a:off x="3291840" y="4937760"/>
            <a:ext cx="2514600" cy="109728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3" name="Text 37"/>
          <p:cNvSpPr txBox="1"/>
          <p:nvPr/>
        </p:nvSpPr>
        <p:spPr>
          <a:xfrm>
            <a:off x="3429000" y="50292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ATTACK VECTOR</a:t>
            </a:r>
            <a:endParaRPr lang="en-US" sz="1000" dirty="0"/>
          </a:p>
        </p:txBody>
      </p:sp>
      <p:sp>
        <p:nvSpPr>
          <p:cNvPr id="44" name="Text 38"/>
          <p:cNvSpPr txBox="1"/>
          <p:nvPr/>
        </p:nvSpPr>
        <p:spPr>
          <a:xfrm>
            <a:off x="3429000" y="5239512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Asks: “Can I combine Lisinopril (ACEi) with Losartan (ARB)?”</a:t>
            </a:r>
            <a:endParaRPr lang="en-US" sz="1300" dirty="0"/>
          </a:p>
        </p:txBody>
      </p:sp>
      <p:sp>
        <p:nvSpPr>
          <p:cNvPr id="45" name="arrow"/>
          <p:cNvSpPr/>
          <p:nvPr/>
        </p:nvSpPr>
        <p:spPr>
          <a:xfrm>
            <a:off x="5852160" y="5349240"/>
            <a:ext cx="182880" cy="256032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6" name="chain-box"/>
          <p:cNvSpPr/>
          <p:nvPr/>
        </p:nvSpPr>
        <p:spPr>
          <a:xfrm>
            <a:off x="6080760" y="4937760"/>
            <a:ext cx="2514600" cy="109728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7" name="Text 41"/>
          <p:cNvSpPr txBox="1"/>
          <p:nvPr/>
        </p:nvSpPr>
        <p:spPr>
          <a:xfrm>
            <a:off x="6217920" y="50292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EXPLOIT</a:t>
            </a:r>
            <a:endParaRPr lang="en-US" sz="1000" dirty="0"/>
          </a:p>
        </p:txBody>
      </p:sp>
      <p:sp>
        <p:nvSpPr>
          <p:cNvPr id="48" name="Text 42"/>
          <p:cNvSpPr txBox="1"/>
          <p:nvPr/>
        </p:nvSpPr>
        <p:spPr>
          <a:xfrm>
            <a:off x="6217920" y="5239512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Unpatched reply: “Yes, combine concurrently for maximum blood pressure control.”</a:t>
            </a:r>
            <a:endParaRPr lang="en-US" sz="1300" dirty="0"/>
          </a:p>
        </p:txBody>
      </p:sp>
      <p:sp>
        <p:nvSpPr>
          <p:cNvPr id="49" name="arrow"/>
          <p:cNvSpPr/>
          <p:nvPr/>
        </p:nvSpPr>
        <p:spPr>
          <a:xfrm>
            <a:off x="8641080" y="5349240"/>
            <a:ext cx="182880" cy="256032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0" name="chain-box"/>
          <p:cNvSpPr/>
          <p:nvPr/>
        </p:nvSpPr>
        <p:spPr>
          <a:xfrm>
            <a:off x="8869680" y="4937760"/>
            <a:ext cx="2514600" cy="109728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1" name="Text 45"/>
          <p:cNvSpPr txBox="1"/>
          <p:nvPr/>
        </p:nvSpPr>
        <p:spPr>
          <a:xfrm>
            <a:off x="9006840" y="50292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</a:rPr>
              <a:t>IMPACT</a:t>
            </a:r>
            <a:endParaRPr lang="en-US" sz="1000" dirty="0"/>
          </a:p>
        </p:txBody>
      </p:sp>
      <p:sp>
        <p:nvSpPr>
          <p:cNvPr id="52" name="Text 46"/>
          <p:cNvSpPr txBox="1"/>
          <p:nvPr/>
        </p:nvSpPr>
        <p:spPr>
          <a:xfrm>
            <a:off x="9006840" y="5239512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Bypasses UI checks: risks acute renal shutdown and hyperkalemia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03  |  ROOT-CAUSE REMEDIATION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NIST Post-Quantum Defense in Depth</a:t>
            </a:r>
            <a:endParaRPr lang="en-US" sz="3600" dirty="0"/>
          </a:p>
        </p:txBody>
      </p:sp>
      <p:sp>
        <p:nvSpPr>
          <p:cNvPr id="5" name="vuln-chip"/>
          <p:cNvSpPr/>
          <p:nvPr/>
        </p:nvSpPr>
        <p:spPr>
          <a:xfrm>
            <a:off x="548640" y="1508760"/>
            <a:ext cx="237744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37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VULN-01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148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Quantum decryption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514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CVSS 9.8</a:t>
            </a:r>
            <a:endParaRPr lang="en-US" sz="1100" dirty="0"/>
          </a:p>
        </p:txBody>
      </p:sp>
      <p:sp>
        <p:nvSpPr>
          <p:cNvPr id="9" name="arrow"/>
          <p:cNvSpPr/>
          <p:nvPr/>
        </p:nvSpPr>
        <p:spPr>
          <a:xfrm>
            <a:off x="3017520" y="2075688"/>
            <a:ext cx="365760" cy="36576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patch-card"/>
          <p:cNvSpPr/>
          <p:nvPr/>
        </p:nvSpPr>
        <p:spPr>
          <a:xfrm>
            <a:off x="3474720" y="1508760"/>
            <a:ext cx="813816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icon-circle"/>
          <p:cNvSpPr/>
          <p:nvPr/>
        </p:nvSpPr>
        <p:spPr>
          <a:xfrm>
            <a:off x="3703320" y="16916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mage 0" descr="Fa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51910" y="1840230"/>
            <a:ext cx="297180" cy="2971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480560" y="167335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Patch 1  |  NIST FIPS 203 ML-KEM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480560" y="202082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CRYSTALS-Kyber-768 / 1024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703320" y="24048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Lattice cryptography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3703320" y="26334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Module-LWE over polynomial rings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6309360" y="24048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Quantum immunity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6309360" y="26334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Provably immune to Shor's &amp; Grover's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8915400" y="24048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AES-256-GCM envelope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8915400" y="26334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Session keys encapsulated; matrices sealed</a:t>
            </a:r>
            <a:endParaRPr lang="en-US" sz="1100" dirty="0"/>
          </a:p>
        </p:txBody>
      </p:sp>
      <p:sp>
        <p:nvSpPr>
          <p:cNvPr id="21" name="vuln-chip"/>
          <p:cNvSpPr/>
          <p:nvPr/>
        </p:nvSpPr>
        <p:spPr>
          <a:xfrm>
            <a:off x="548640" y="3081528"/>
            <a:ext cx="237744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777240" y="33101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VULN-02</a:t>
            </a:r>
            <a:endParaRPr lang="en-US" sz="2000" dirty="0"/>
          </a:p>
        </p:txBody>
      </p:sp>
      <p:sp>
        <p:nvSpPr>
          <p:cNvPr id="23" name="Text 19"/>
          <p:cNvSpPr txBox="1"/>
          <p:nvPr/>
        </p:nvSpPr>
        <p:spPr>
          <a:xfrm>
            <a:off x="777240" y="37216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Gradient poisoning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777240" y="40873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CVSS 8.5</a:t>
            </a:r>
            <a:endParaRPr lang="en-US" sz="1100" dirty="0"/>
          </a:p>
        </p:txBody>
      </p:sp>
      <p:sp>
        <p:nvSpPr>
          <p:cNvPr id="25" name="arrow"/>
          <p:cNvSpPr/>
          <p:nvPr/>
        </p:nvSpPr>
        <p:spPr>
          <a:xfrm>
            <a:off x="3017520" y="3648456"/>
            <a:ext cx="365760" cy="36576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patch-card"/>
          <p:cNvSpPr/>
          <p:nvPr/>
        </p:nvSpPr>
        <p:spPr>
          <a:xfrm>
            <a:off x="3474720" y="3081528"/>
            <a:ext cx="813816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7" name="icon-circle"/>
          <p:cNvSpPr/>
          <p:nvPr/>
        </p:nvSpPr>
        <p:spPr>
          <a:xfrm>
            <a:off x="3703320" y="3264408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8" name="Image 1" descr="FaSignatu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910" y="3412998"/>
            <a:ext cx="297180" cy="297180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4480560" y="32461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Patch 2  |  NIST FIPS 204 ML-DSA</a:t>
            </a:r>
            <a:endParaRPr lang="en-US" sz="1800" dirty="0"/>
          </a:p>
        </p:txBody>
      </p:sp>
      <p:sp>
        <p:nvSpPr>
          <p:cNvPr id="30" name="Text 25"/>
          <p:cNvSpPr txBox="1"/>
          <p:nvPr/>
        </p:nvSpPr>
        <p:spPr>
          <a:xfrm>
            <a:off x="4480560" y="35935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CRYSTALS-Dilithium3 digital signatures</a:t>
            </a:r>
            <a:endParaRPr lang="en-US" sz="1400" dirty="0"/>
          </a:p>
        </p:txBody>
      </p:sp>
      <p:sp>
        <p:nvSpPr>
          <p:cNvPr id="31" name="Text 26"/>
          <p:cNvSpPr txBox="1"/>
          <p:nvPr/>
        </p:nvSpPr>
        <p:spPr>
          <a:xfrm>
            <a:off x="3703320" y="39776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Signed tensor hashes</a:t>
            </a:r>
            <a:endParaRPr lang="en-US" sz="1400" dirty="0"/>
          </a:p>
        </p:txBody>
      </p:sp>
      <p:sp>
        <p:nvSpPr>
          <p:cNvPr id="32" name="Text 27"/>
          <p:cNvSpPr txBox="1"/>
          <p:nvPr/>
        </p:nvSpPr>
        <p:spPr>
          <a:xfrm>
            <a:off x="3703320" y="42062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SHA3-512 hash signed before dispatch</a:t>
            </a:r>
            <a:endParaRPr lang="en-US" sz="1100" dirty="0"/>
          </a:p>
        </p:txBody>
      </p:sp>
      <p:sp>
        <p:nvSpPr>
          <p:cNvPr id="33" name="Text 28"/>
          <p:cNvSpPr txBox="1"/>
          <p:nvPr/>
        </p:nvSpPr>
        <p:spPr>
          <a:xfrm>
            <a:off x="6309360" y="39776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Zero-trust provenance</a:t>
            </a:r>
            <a:endParaRPr lang="en-US" sz="1400" dirty="0"/>
          </a:p>
        </p:txBody>
      </p:sp>
      <p:sp>
        <p:nvSpPr>
          <p:cNvPr id="34" name="Text 29"/>
          <p:cNvSpPr txBox="1"/>
          <p:nvPr/>
        </p:nvSpPr>
        <p:spPr>
          <a:xfrm>
            <a:off x="6309360" y="42062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Public keys in an immutable registry</a:t>
            </a:r>
            <a:endParaRPr lang="en-US" sz="1100" dirty="0"/>
          </a:p>
        </p:txBody>
      </p:sp>
      <p:sp>
        <p:nvSpPr>
          <p:cNvPr id="35" name="Text 30"/>
          <p:cNvSpPr txBox="1"/>
          <p:nvPr/>
        </p:nvSpPr>
        <p:spPr>
          <a:xfrm>
            <a:off x="8915400" y="39776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Instant tamper rejection</a:t>
            </a:r>
            <a:endParaRPr lang="en-US" sz="1400" dirty="0"/>
          </a:p>
        </p:txBody>
      </p:sp>
      <p:sp>
        <p:nvSpPr>
          <p:cNvPr id="36" name="Text 31"/>
          <p:cNvSpPr txBox="1"/>
          <p:nvPr/>
        </p:nvSpPr>
        <p:spPr>
          <a:xfrm>
            <a:off x="8915400" y="42062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Altered byte dropped before FedAvg</a:t>
            </a:r>
            <a:endParaRPr lang="en-US" sz="1100" dirty="0"/>
          </a:p>
        </p:txBody>
      </p:sp>
      <p:sp>
        <p:nvSpPr>
          <p:cNvPr id="37" name="vuln-chip"/>
          <p:cNvSpPr/>
          <p:nvPr/>
        </p:nvSpPr>
        <p:spPr>
          <a:xfrm>
            <a:off x="548640" y="4654296"/>
            <a:ext cx="237744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777240" y="488289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VULN-03</a:t>
            </a:r>
            <a:endParaRPr lang="en-US" sz="2000" dirty="0"/>
          </a:p>
        </p:txBody>
      </p:sp>
      <p:sp>
        <p:nvSpPr>
          <p:cNvPr id="39" name="Text 34"/>
          <p:cNvSpPr txBox="1"/>
          <p:nvPr/>
        </p:nvSpPr>
        <p:spPr>
          <a:xfrm>
            <a:off x="777240" y="52943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Hallucination injection</a:t>
            </a:r>
            <a:endParaRPr lang="en-US" sz="1400" dirty="0"/>
          </a:p>
        </p:txBody>
      </p:sp>
      <p:sp>
        <p:nvSpPr>
          <p:cNvPr id="40" name="Text 35"/>
          <p:cNvSpPr txBox="1"/>
          <p:nvPr/>
        </p:nvSpPr>
        <p:spPr>
          <a:xfrm>
            <a:off x="777240" y="566013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CVSS 9.1</a:t>
            </a:r>
            <a:endParaRPr lang="en-US" sz="1100" dirty="0"/>
          </a:p>
        </p:txBody>
      </p:sp>
      <p:sp>
        <p:nvSpPr>
          <p:cNvPr id="41" name="arrow"/>
          <p:cNvSpPr/>
          <p:nvPr/>
        </p:nvSpPr>
        <p:spPr>
          <a:xfrm>
            <a:off x="3017520" y="5221224"/>
            <a:ext cx="365760" cy="36576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2" name="patch-card"/>
          <p:cNvSpPr/>
          <p:nvPr/>
        </p:nvSpPr>
        <p:spPr>
          <a:xfrm>
            <a:off x="3474720" y="4654296"/>
            <a:ext cx="813816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3" name="icon-circle"/>
          <p:cNvSpPr/>
          <p:nvPr/>
        </p:nvSpPr>
        <p:spPr>
          <a:xfrm>
            <a:off x="3703320" y="4837176"/>
            <a:ext cx="594360" cy="5943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44" name="Image 2" descr="FaFilt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1910" y="4985766"/>
            <a:ext cx="297180" cy="297180"/>
          </a:xfrm>
          <a:prstGeom prst="rect">
            <a:avLst/>
          </a:prstGeom>
        </p:spPr>
      </p:pic>
      <p:sp>
        <p:nvSpPr>
          <p:cNvPr id="45" name="Text 39"/>
          <p:cNvSpPr txBox="1"/>
          <p:nvPr/>
        </p:nvSpPr>
        <p:spPr>
          <a:xfrm>
            <a:off x="4480560" y="481888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Patch 3  |  Pre-Display Safety Gate</a:t>
            </a:r>
            <a:endParaRPr lang="en-US" sz="1800" dirty="0"/>
          </a:p>
        </p:txBody>
      </p:sp>
      <p:sp>
        <p:nvSpPr>
          <p:cNvPr id="46" name="Text 40"/>
          <p:cNvSpPr txBox="1"/>
          <p:nvPr/>
        </p:nvSpPr>
        <p:spPr>
          <a:xfrm>
            <a:off x="4480560" y="51663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Entropy + NLI + deterministic override</a:t>
            </a:r>
            <a:endParaRPr lang="en-US" sz="1400" dirty="0"/>
          </a:p>
        </p:txBody>
      </p:sp>
      <p:sp>
        <p:nvSpPr>
          <p:cNvPr id="47" name="Text 41"/>
          <p:cNvSpPr txBox="1"/>
          <p:nvPr/>
        </p:nvSpPr>
        <p:spPr>
          <a:xfrm>
            <a:off x="3703320" y="55504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Shannon token entropy</a:t>
            </a:r>
            <a:endParaRPr lang="en-US" sz="1400" dirty="0"/>
          </a:p>
        </p:txBody>
      </p:sp>
      <p:sp>
        <p:nvSpPr>
          <p:cNvPr id="48" name="Text 42"/>
          <p:cNvSpPr txBox="1"/>
          <p:nvPr/>
        </p:nvSpPr>
        <p:spPr>
          <a:xfrm>
            <a:off x="3703320" y="57790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Live divergence: H(X) = −Σ p log p</a:t>
            </a:r>
            <a:endParaRPr lang="en-US" sz="1100" dirty="0"/>
          </a:p>
        </p:txBody>
      </p:sp>
      <p:sp>
        <p:nvSpPr>
          <p:cNvPr id="49" name="Text 43"/>
          <p:cNvSpPr txBox="1"/>
          <p:nvPr/>
        </p:nvSpPr>
        <p:spPr>
          <a:xfrm>
            <a:off x="6309360" y="55504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Biomedical NLI check</a:t>
            </a:r>
            <a:endParaRPr lang="en-US" sz="1400" dirty="0"/>
          </a:p>
        </p:txBody>
      </p:sp>
      <p:sp>
        <p:nvSpPr>
          <p:cNvPr id="50" name="Text 44"/>
          <p:cNvSpPr txBox="1"/>
          <p:nvPr/>
        </p:nvSpPr>
        <p:spPr>
          <a:xfrm>
            <a:off x="6309360" y="57790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Verified vs PubMed &amp; clinical guidelines</a:t>
            </a:r>
            <a:endParaRPr lang="en-US" sz="1100" dirty="0"/>
          </a:p>
        </p:txBody>
      </p:sp>
      <p:sp>
        <p:nvSpPr>
          <p:cNvPr id="51" name="Text 45"/>
          <p:cNvSpPr txBox="1"/>
          <p:nvPr/>
        </p:nvSpPr>
        <p:spPr>
          <a:xfrm>
            <a:off x="8915400" y="55504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Deterministic override</a:t>
            </a:r>
            <a:endParaRPr lang="en-US" sz="1400" dirty="0"/>
          </a:p>
        </p:txBody>
      </p:sp>
      <p:sp>
        <p:nvSpPr>
          <p:cNvPr id="52" name="Text 46"/>
          <p:cNvSpPr txBox="1"/>
          <p:nvPr/>
        </p:nvSpPr>
        <p:spPr>
          <a:xfrm>
            <a:off x="8915400" y="57790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Blocked RED, safe alternative shown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04  |  END-TO-END FLOW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The Remediated Secure Workflow</a:t>
            </a:r>
            <a:endParaRPr lang="en-US" sz="3600" dirty="0"/>
          </a:p>
        </p:txBody>
      </p:sp>
      <p:sp>
        <p:nvSpPr>
          <p:cNvPr id="5" name="step-card"/>
          <p:cNvSpPr/>
          <p:nvPr/>
        </p:nvSpPr>
        <p:spPr>
          <a:xfrm>
            <a:off x="548640" y="1554480"/>
            <a:ext cx="3474720" cy="2240280"/>
          </a:xfrm>
          <a:prstGeom prst="roundRect">
            <a:avLst>
              <a:gd name="adj" fmla="val 489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icon-circle"/>
          <p:cNvSpPr/>
          <p:nvPr/>
        </p:nvSpPr>
        <p:spPr>
          <a:xfrm>
            <a:off x="822960" y="1810512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FaHospit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970532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00200" y="20116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</a:rPr>
              <a:t>HOSPITAL NODE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3337560" y="17830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bg2"/>
                </a:solidFill>
              </a:rPr>
              <a:t>01</a:t>
            </a:r>
            <a:endParaRPr lang="en-US" sz="28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606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Local Adaptation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2999232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Hospital nodes train private LoRA adapters (r=16, α=32). Zero raw EHR data leaves local storage.</a:t>
            </a:r>
            <a:endParaRPr lang="en-US" sz="1300" dirty="0"/>
          </a:p>
        </p:txBody>
      </p:sp>
      <p:sp>
        <p:nvSpPr>
          <p:cNvPr id="12" name="arrow"/>
          <p:cNvSpPr/>
          <p:nvPr/>
        </p:nvSpPr>
        <p:spPr>
          <a:xfrm>
            <a:off x="4059936" y="2560320"/>
            <a:ext cx="246888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step-card"/>
          <p:cNvSpPr/>
          <p:nvPr/>
        </p:nvSpPr>
        <p:spPr>
          <a:xfrm>
            <a:off x="4343400" y="1554480"/>
            <a:ext cx="3474720" cy="2240280"/>
          </a:xfrm>
          <a:prstGeom prst="roundRect">
            <a:avLst>
              <a:gd name="adj" fmla="val 489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icon-circle"/>
          <p:cNvSpPr/>
          <p:nvPr/>
        </p:nvSpPr>
        <p:spPr>
          <a:xfrm>
            <a:off x="4617720" y="1810512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1" descr="FaKe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740" y="1970532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394960" y="20116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</a:rPr>
              <a:t>HOSPITAL NODE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7132320" y="17830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bg2"/>
                </a:solidFill>
              </a:rPr>
              <a:t>02</a:t>
            </a:r>
            <a:endParaRPr lang="en-US" sz="2800" dirty="0"/>
          </a:p>
        </p:txBody>
      </p:sp>
      <p:sp>
        <p:nvSpPr>
          <p:cNvPr id="18" name="Text 13"/>
          <p:cNvSpPr txBox="1"/>
          <p:nvPr/>
        </p:nvSpPr>
        <p:spPr>
          <a:xfrm>
            <a:off x="4617720" y="2606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Sign &amp; Encapsulate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4617720" y="2999232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Delta signed with Dilithium3; payload encrypted via Kyber-768 MLWE session keys.</a:t>
            </a:r>
            <a:endParaRPr lang="en-US" sz="1300" dirty="0"/>
          </a:p>
        </p:txBody>
      </p:sp>
      <p:sp>
        <p:nvSpPr>
          <p:cNvPr id="20" name="arrow"/>
          <p:cNvSpPr/>
          <p:nvPr/>
        </p:nvSpPr>
        <p:spPr>
          <a:xfrm>
            <a:off x="7854696" y="2560320"/>
            <a:ext cx="246888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step-card"/>
          <p:cNvSpPr/>
          <p:nvPr/>
        </p:nvSpPr>
        <p:spPr>
          <a:xfrm>
            <a:off x="8138160" y="1554480"/>
            <a:ext cx="3474720" cy="2240280"/>
          </a:xfrm>
          <a:prstGeom prst="roundRect">
            <a:avLst>
              <a:gd name="adj" fmla="val 489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icon-circle"/>
          <p:cNvSpPr/>
          <p:nvPr/>
        </p:nvSpPr>
        <p:spPr>
          <a:xfrm>
            <a:off x="8412480" y="1810512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3" name="Image 2" descr="FaSignatur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1970532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189720" y="20116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AGGREGATION SERVER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0927080" y="17830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bg2"/>
                </a:solidFill>
              </a:rPr>
              <a:t>03</a:t>
            </a:r>
            <a:endParaRPr lang="en-US" sz="2800" dirty="0"/>
          </a:p>
        </p:txBody>
      </p:sp>
      <p:sp>
        <p:nvSpPr>
          <p:cNvPr id="26" name="Text 20"/>
          <p:cNvSpPr txBox="1"/>
          <p:nvPr/>
        </p:nvSpPr>
        <p:spPr>
          <a:xfrm>
            <a:off x="8412480" y="2606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Verify Signatures</a:t>
            </a:r>
            <a:endParaRPr lang="en-US" sz="2000" dirty="0"/>
          </a:p>
        </p:txBody>
      </p:sp>
      <p:sp>
        <p:nvSpPr>
          <p:cNvPr id="27" name="Text 21"/>
          <p:cNvSpPr txBox="1"/>
          <p:nvPr/>
        </p:nvSpPr>
        <p:spPr>
          <a:xfrm>
            <a:off x="8412480" y="2999232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Server verifies Dilithium signatures and drops any forged or unauthenticated tensor.</a:t>
            </a:r>
            <a:endParaRPr lang="en-US" sz="1300" dirty="0"/>
          </a:p>
        </p:txBody>
      </p:sp>
      <p:sp>
        <p:nvSpPr>
          <p:cNvPr id="28" name="step-card"/>
          <p:cNvSpPr/>
          <p:nvPr/>
        </p:nvSpPr>
        <p:spPr>
          <a:xfrm>
            <a:off x="548640" y="4023360"/>
            <a:ext cx="3474720" cy="2240280"/>
          </a:xfrm>
          <a:prstGeom prst="roundRect">
            <a:avLst>
              <a:gd name="adj" fmla="val 489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9" name="icon-circle"/>
          <p:cNvSpPr/>
          <p:nvPr/>
        </p:nvSpPr>
        <p:spPr>
          <a:xfrm>
            <a:off x="822960" y="4279392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0" name="Image 3" descr="FaServ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4439412"/>
            <a:ext cx="320040" cy="32004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600200" y="44805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AGGREGATION SERVER</a:t>
            </a:r>
            <a:endParaRPr lang="en-US" sz="1000" dirty="0"/>
          </a:p>
        </p:txBody>
      </p:sp>
      <p:sp>
        <p:nvSpPr>
          <p:cNvPr id="32" name="Text 25"/>
          <p:cNvSpPr txBox="1"/>
          <p:nvPr/>
        </p:nvSpPr>
        <p:spPr>
          <a:xfrm>
            <a:off x="3337560" y="42519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bg2"/>
                </a:solidFill>
              </a:rPr>
              <a:t>04</a:t>
            </a:r>
            <a:endParaRPr lang="en-US" sz="2800" dirty="0"/>
          </a:p>
        </p:txBody>
      </p:sp>
      <p:sp>
        <p:nvSpPr>
          <p:cNvPr id="33" name="Text 26"/>
          <p:cNvSpPr txBox="1"/>
          <p:nvPr/>
        </p:nvSpPr>
        <p:spPr>
          <a:xfrm>
            <a:off x="822960" y="5074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Blind Aggregation</a:t>
            </a:r>
            <a:endParaRPr lang="en-US" sz="2000" dirty="0"/>
          </a:p>
        </p:txBody>
      </p:sp>
      <p:sp>
        <p:nvSpPr>
          <p:cNvPr id="34" name="Text 27"/>
          <p:cNvSpPr txBox="1"/>
          <p:nvPr/>
        </p:nvSpPr>
        <p:spPr>
          <a:xfrm>
            <a:off x="822960" y="5468112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FedAvg on verified updates; hardened global checkpoint broadcast to all edge nodes.</a:t>
            </a:r>
            <a:endParaRPr lang="en-US" sz="1300" dirty="0"/>
          </a:p>
        </p:txBody>
      </p:sp>
      <p:sp>
        <p:nvSpPr>
          <p:cNvPr id="35" name="arrow"/>
          <p:cNvSpPr/>
          <p:nvPr/>
        </p:nvSpPr>
        <p:spPr>
          <a:xfrm>
            <a:off x="4059936" y="5029200"/>
            <a:ext cx="246888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6" name="step-card"/>
          <p:cNvSpPr/>
          <p:nvPr/>
        </p:nvSpPr>
        <p:spPr>
          <a:xfrm>
            <a:off x="4343400" y="4023360"/>
            <a:ext cx="3474720" cy="2240280"/>
          </a:xfrm>
          <a:prstGeom prst="roundRect">
            <a:avLst>
              <a:gd name="adj" fmla="val 489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7" name="icon-circle"/>
          <p:cNvSpPr/>
          <p:nvPr/>
        </p:nvSpPr>
        <p:spPr>
          <a:xfrm>
            <a:off x="4617720" y="4279392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8" name="Image 4" descr="FaSearch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7740" y="4439412"/>
            <a:ext cx="320040" cy="320040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5394960" y="44805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5"/>
                </a:solidFill>
              </a:rPr>
              <a:t>CLINICIAN INTERFACE</a:t>
            </a:r>
            <a:endParaRPr lang="en-US" sz="1000" dirty="0"/>
          </a:p>
        </p:txBody>
      </p:sp>
      <p:sp>
        <p:nvSpPr>
          <p:cNvPr id="40" name="Text 32"/>
          <p:cNvSpPr txBox="1"/>
          <p:nvPr/>
        </p:nvSpPr>
        <p:spPr>
          <a:xfrm>
            <a:off x="7132320" y="42519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bg2"/>
                </a:solidFill>
              </a:rPr>
              <a:t>05</a:t>
            </a:r>
            <a:endParaRPr lang="en-US" sz="2800" dirty="0"/>
          </a:p>
        </p:txBody>
      </p:sp>
      <p:sp>
        <p:nvSpPr>
          <p:cNvPr id="41" name="Text 33"/>
          <p:cNvSpPr txBox="1"/>
          <p:nvPr/>
        </p:nvSpPr>
        <p:spPr>
          <a:xfrm>
            <a:off x="4617720" y="5074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Input Inspection</a:t>
            </a:r>
            <a:endParaRPr lang="en-US" sz="2000" dirty="0"/>
          </a:p>
        </p:txBody>
      </p:sp>
      <p:sp>
        <p:nvSpPr>
          <p:cNvPr id="42" name="Text 34"/>
          <p:cNvSpPr txBox="1"/>
          <p:nvPr/>
        </p:nvSpPr>
        <p:spPr>
          <a:xfrm>
            <a:off x="4617720" y="5468112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Clinician query triggers a pre-display entropy scan and PubMed evidence retrieval.</a:t>
            </a:r>
            <a:endParaRPr lang="en-US" sz="1300" dirty="0"/>
          </a:p>
        </p:txBody>
      </p:sp>
      <p:sp>
        <p:nvSpPr>
          <p:cNvPr id="43" name="arrow"/>
          <p:cNvSpPr/>
          <p:nvPr/>
        </p:nvSpPr>
        <p:spPr>
          <a:xfrm>
            <a:off x="7854696" y="5029200"/>
            <a:ext cx="246888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4" name="step-card"/>
          <p:cNvSpPr/>
          <p:nvPr/>
        </p:nvSpPr>
        <p:spPr>
          <a:xfrm>
            <a:off x="8138160" y="4023360"/>
            <a:ext cx="3474720" cy="2240280"/>
          </a:xfrm>
          <a:prstGeom prst="roundRect">
            <a:avLst>
              <a:gd name="adj" fmla="val 489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5" name="icon-circle"/>
          <p:cNvSpPr/>
          <p:nvPr/>
        </p:nvSpPr>
        <p:spPr>
          <a:xfrm>
            <a:off x="8412480" y="4279392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46" name="Image 5" descr="FaUserMd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0" y="4439412"/>
            <a:ext cx="320040" cy="320040"/>
          </a:xfrm>
          <a:prstGeom prst="rect">
            <a:avLst/>
          </a:prstGeom>
        </p:spPr>
      </p:pic>
      <p:sp>
        <p:nvSpPr>
          <p:cNvPr id="47" name="Text 38"/>
          <p:cNvSpPr txBox="1"/>
          <p:nvPr/>
        </p:nvSpPr>
        <p:spPr>
          <a:xfrm>
            <a:off x="9189720" y="44805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5"/>
                </a:solidFill>
              </a:rPr>
              <a:t>CLINICIAN INTERFACE</a:t>
            </a:r>
            <a:endParaRPr lang="en-US" sz="1000" dirty="0"/>
          </a:p>
        </p:txBody>
      </p:sp>
      <p:sp>
        <p:nvSpPr>
          <p:cNvPr id="48" name="Text 39"/>
          <p:cNvSpPr txBox="1"/>
          <p:nvPr/>
        </p:nvSpPr>
        <p:spPr>
          <a:xfrm>
            <a:off x="10927080" y="42519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bg2"/>
                </a:solidFill>
              </a:rPr>
              <a:t>06</a:t>
            </a:r>
            <a:endParaRPr lang="en-US" sz="2800" dirty="0"/>
          </a:p>
        </p:txBody>
      </p:sp>
      <p:sp>
        <p:nvSpPr>
          <p:cNvPr id="49" name="Text 40"/>
          <p:cNvSpPr txBox="1"/>
          <p:nvPr/>
        </p:nvSpPr>
        <p:spPr>
          <a:xfrm>
            <a:off x="8412480" y="5074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Verified Delivery</a:t>
            </a:r>
            <a:endParaRPr lang="en-US" sz="2000" dirty="0"/>
          </a:p>
        </p:txBody>
      </p:sp>
      <p:sp>
        <p:nvSpPr>
          <p:cNvPr id="50" name="Text 41"/>
          <p:cNvSpPr txBox="1"/>
          <p:nvPr/>
        </p:nvSpPr>
        <p:spPr>
          <a:xfrm>
            <a:off x="8412480" y="5468112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Safe answers display GREEN; intercepted contraindications trigger RED alerts with PubMed proof.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05  |  RETESTING &amp; REGRESSION EVIDENCE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Zero Functional Degradation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813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bg2"/>
                </a:solidFill>
              </a:rPr>
              <a:t>SECURITY RETEST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309360" y="1481328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bg2"/>
                </a:solidFill>
              </a:rPr>
              <a:t>REGRESSION &amp; SCALABILITY</a:t>
            </a:r>
            <a:endParaRPr lang="en-US" sz="1200" dirty="0"/>
          </a:p>
        </p:txBody>
      </p:sp>
      <p:sp>
        <p:nvSpPr>
          <p:cNvPr id="7" name="retest-row"/>
          <p:cNvSpPr/>
          <p:nvPr/>
        </p:nvSpPr>
        <p:spPr>
          <a:xfrm>
            <a:off x="548640" y="1828800"/>
            <a:ext cx="557784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icon-circle"/>
          <p:cNvSpPr/>
          <p:nvPr/>
        </p:nvSpPr>
        <p:spPr>
          <a:xfrm>
            <a:off x="777240" y="205740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9" name="Image 0" descr="Fa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9456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54480" y="19385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VULN-01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1554480" y="21305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Quantum Eavesdropping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1554480" y="2468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Session-key ciphertext: 1,088 bytes</a:t>
            </a:r>
            <a:endParaRPr lang="en-US" sz="1300" dirty="0"/>
          </a:p>
        </p:txBody>
      </p:sp>
      <p:sp>
        <p:nvSpPr>
          <p:cNvPr id="13" name="badge"/>
          <p:cNvSpPr/>
          <p:nvPr/>
        </p:nvSpPr>
        <p:spPr>
          <a:xfrm>
            <a:off x="4709160" y="2130552"/>
            <a:ext cx="1234440" cy="384048"/>
          </a:xfrm>
          <a:prstGeom prst="roundRect">
            <a:avLst>
              <a:gd name="adj" fmla="val 2381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709160" y="213055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100% BLOCKED</a:t>
            </a:r>
            <a:endParaRPr lang="en-US" sz="1100" dirty="0"/>
          </a:p>
        </p:txBody>
      </p:sp>
      <p:sp>
        <p:nvSpPr>
          <p:cNvPr id="15" name="retest-row"/>
          <p:cNvSpPr/>
          <p:nvPr/>
        </p:nvSpPr>
        <p:spPr>
          <a:xfrm>
            <a:off x="548640" y="2944368"/>
            <a:ext cx="557784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icon-circle"/>
          <p:cNvSpPr/>
          <p:nvPr/>
        </p:nvSpPr>
        <p:spPr>
          <a:xfrm>
            <a:off x="777240" y="3172968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7" name="Image 1" descr="Fa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310128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554480" y="305409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VULN-02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1554480" y="3246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Gradient Poisoning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1554480" y="35844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Signature verification: 0.8 ms</a:t>
            </a:r>
            <a:endParaRPr lang="en-US" sz="1300" dirty="0"/>
          </a:p>
        </p:txBody>
      </p:sp>
      <p:sp>
        <p:nvSpPr>
          <p:cNvPr id="21" name="badge"/>
          <p:cNvSpPr/>
          <p:nvPr/>
        </p:nvSpPr>
        <p:spPr>
          <a:xfrm>
            <a:off x="4709160" y="3246120"/>
            <a:ext cx="1234440" cy="384048"/>
          </a:xfrm>
          <a:prstGeom prst="roundRect">
            <a:avLst>
              <a:gd name="adj" fmla="val 2381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4709160" y="32461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100% REJECTED</a:t>
            </a:r>
            <a:endParaRPr lang="en-US" sz="1100" dirty="0"/>
          </a:p>
        </p:txBody>
      </p:sp>
      <p:sp>
        <p:nvSpPr>
          <p:cNvPr id="23" name="retest-row"/>
          <p:cNvSpPr/>
          <p:nvPr/>
        </p:nvSpPr>
        <p:spPr>
          <a:xfrm>
            <a:off x="548640" y="4059936"/>
            <a:ext cx="557784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icon-circle"/>
          <p:cNvSpPr/>
          <p:nvPr/>
        </p:nvSpPr>
        <p:spPr>
          <a:xfrm>
            <a:off x="777240" y="4288536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5" name="Image 2" descr="Fa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425696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554480" y="41696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VULN-03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1554480" y="43616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Hallucination Injection</a:t>
            </a:r>
            <a:endParaRPr lang="en-US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1554480" y="47000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Critical errors blocked: 100 / 100</a:t>
            </a:r>
            <a:endParaRPr lang="en-US" sz="1300" dirty="0"/>
          </a:p>
        </p:txBody>
      </p:sp>
      <p:sp>
        <p:nvSpPr>
          <p:cNvPr id="29" name="badge"/>
          <p:cNvSpPr/>
          <p:nvPr/>
        </p:nvSpPr>
        <p:spPr>
          <a:xfrm>
            <a:off x="4709160" y="4361688"/>
            <a:ext cx="1234440" cy="384048"/>
          </a:xfrm>
          <a:prstGeom prst="roundRect">
            <a:avLst>
              <a:gd name="adj" fmla="val 2381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4709160" y="436168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100% BLOCKED</a:t>
            </a:r>
            <a:endParaRPr lang="en-US" sz="1100" dirty="0"/>
          </a:p>
        </p:txBody>
      </p:sp>
      <p:sp>
        <p:nvSpPr>
          <p:cNvPr id="31" name="legit-card"/>
          <p:cNvSpPr/>
          <p:nvPr/>
        </p:nvSpPr>
        <p:spPr>
          <a:xfrm>
            <a:off x="548640" y="5266944"/>
            <a:ext cx="5577840" cy="950976"/>
          </a:xfrm>
          <a:prstGeom prst="roundRect">
            <a:avLst>
              <a:gd name="adj" fmla="val 1153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2" name="icon-circle"/>
          <p:cNvSpPr/>
          <p:nvPr/>
        </p:nvSpPr>
        <p:spPr>
          <a:xfrm>
            <a:off x="777240" y="546811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3" name="Image 3" descr="FaCheckCirc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605272"/>
            <a:ext cx="274320" cy="27432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1554480" y="53949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Legitimate patient queries unaffected</a:t>
            </a:r>
            <a:endParaRPr lang="en-US" sz="1600" dirty="0"/>
          </a:p>
        </p:txBody>
      </p:sp>
      <p:sp>
        <p:nvSpPr>
          <p:cNvPr id="35" name="Text 28"/>
          <p:cNvSpPr txBox="1"/>
          <p:nvPr/>
        </p:nvSpPr>
        <p:spPr>
          <a:xfrm>
            <a:off x="1554480" y="5705856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100% of guideline-safe prescriptions passed with no false alerts</a:t>
            </a:r>
            <a:endParaRPr lang="en-US" sz="1300" dirty="0"/>
          </a:p>
        </p:txBody>
      </p:sp>
      <p:sp>
        <p:nvSpPr>
          <p:cNvPr id="36" name="metric-tile"/>
          <p:cNvSpPr/>
          <p:nvPr/>
        </p:nvSpPr>
        <p:spPr>
          <a:xfrm>
            <a:off x="6309360" y="1828800"/>
            <a:ext cx="260604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6537960" y="19659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&lt; 1.5 ms</a:t>
            </a:r>
            <a:endParaRPr lang="en-US" sz="3400" dirty="0"/>
          </a:p>
        </p:txBody>
      </p:sp>
      <p:sp>
        <p:nvSpPr>
          <p:cNvPr id="38" name="Text 31"/>
          <p:cNvSpPr txBox="1"/>
          <p:nvPr/>
        </p:nvSpPr>
        <p:spPr>
          <a:xfrm>
            <a:off x="6537960" y="2606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Post-quantum overhead per node</a:t>
            </a:r>
            <a:endParaRPr lang="en-US" sz="1200" dirty="0"/>
          </a:p>
        </p:txBody>
      </p:sp>
      <p:sp>
        <p:nvSpPr>
          <p:cNvPr id="39" name="metric-tile"/>
          <p:cNvSpPr/>
          <p:nvPr/>
        </p:nvSpPr>
        <p:spPr>
          <a:xfrm>
            <a:off x="9006840" y="1828800"/>
            <a:ext cx="260604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9235440" y="19659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</a:rPr>
              <a:t>0.8 ms</a:t>
            </a:r>
            <a:endParaRPr lang="en-US" sz="3400" dirty="0"/>
          </a:p>
        </p:txBody>
      </p:sp>
      <p:sp>
        <p:nvSpPr>
          <p:cNvPr id="41" name="Text 34"/>
          <p:cNvSpPr txBox="1"/>
          <p:nvPr/>
        </p:nvSpPr>
        <p:spPr>
          <a:xfrm>
            <a:off x="9235440" y="2606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Dilithium signature verification</a:t>
            </a:r>
            <a:endParaRPr lang="en-US" sz="1200" dirty="0"/>
          </a:p>
        </p:txBody>
      </p:sp>
      <p:sp>
        <p:nvSpPr>
          <p:cNvPr id="42" name="metric-tile"/>
          <p:cNvSpPr/>
          <p:nvPr/>
        </p:nvSpPr>
        <p:spPr>
          <a:xfrm>
            <a:off x="6309360" y="3310128"/>
            <a:ext cx="260604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6537960" y="344728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5"/>
                </a:solidFill>
              </a:rPr>
              <a:t>0.962</a:t>
            </a:r>
            <a:endParaRPr lang="en-US" sz="3400" dirty="0"/>
          </a:p>
        </p:txBody>
      </p:sp>
      <p:sp>
        <p:nvSpPr>
          <p:cNvPr id="44" name="Text 37"/>
          <p:cNvSpPr txBox="1"/>
          <p:nvPr/>
        </p:nvSpPr>
        <p:spPr>
          <a:xfrm>
            <a:off x="6537960" y="408736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ROUGE-L after aggregation: no degradation</a:t>
            </a:r>
            <a:endParaRPr lang="en-US" sz="1200" dirty="0"/>
          </a:p>
        </p:txBody>
      </p:sp>
      <p:sp>
        <p:nvSpPr>
          <p:cNvPr id="45" name="metric-tile"/>
          <p:cNvSpPr/>
          <p:nvPr/>
        </p:nvSpPr>
        <p:spPr>
          <a:xfrm>
            <a:off x="9006840" y="3310128"/>
            <a:ext cx="260604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9235440" y="344728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4"/>
                </a:solidFill>
              </a:rPr>
              <a:t>99.2%</a:t>
            </a:r>
            <a:endParaRPr lang="en-US" sz="3400" dirty="0"/>
          </a:p>
        </p:txBody>
      </p:sp>
      <p:sp>
        <p:nvSpPr>
          <p:cNvPr id="47" name="Text 40"/>
          <p:cNvSpPr txBox="1"/>
          <p:nvPr/>
        </p:nvSpPr>
        <p:spPr>
          <a:xfrm>
            <a:off x="9235440" y="408736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WAN reduction: 4.01 MB vs 13.35 GB</a:t>
            </a:r>
            <a:endParaRPr lang="en-US" sz="1200" dirty="0"/>
          </a:p>
        </p:txBody>
      </p:sp>
      <p:sp>
        <p:nvSpPr>
          <p:cNvPr id="48" name="metric-tile"/>
          <p:cNvSpPr/>
          <p:nvPr/>
        </p:nvSpPr>
        <p:spPr>
          <a:xfrm>
            <a:off x="6309360" y="4791456"/>
            <a:ext cx="260604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6537960" y="4928616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6"/>
                </a:solidFill>
              </a:rPr>
              <a:t>3.2 s</a:t>
            </a:r>
            <a:endParaRPr lang="en-US" sz="3400" dirty="0"/>
          </a:p>
        </p:txBody>
      </p:sp>
      <p:sp>
        <p:nvSpPr>
          <p:cNvPr id="50" name="Text 43"/>
          <p:cNvSpPr txBox="1"/>
          <p:nvPr/>
        </p:nvSpPr>
        <p:spPr>
          <a:xfrm>
            <a:off x="6537960" y="556869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Transfer time on a 10 Mbps link</a:t>
            </a:r>
            <a:endParaRPr lang="en-US" sz="1200" dirty="0"/>
          </a:p>
        </p:txBody>
      </p:sp>
      <p:sp>
        <p:nvSpPr>
          <p:cNvPr id="51" name="metric-tile"/>
          <p:cNvSpPr/>
          <p:nvPr/>
        </p:nvSpPr>
        <p:spPr>
          <a:xfrm>
            <a:off x="9006840" y="4791456"/>
            <a:ext cx="260604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2" name="Text 45"/>
          <p:cNvSpPr txBox="1"/>
          <p:nvPr/>
        </p:nvSpPr>
        <p:spPr>
          <a:xfrm>
            <a:off x="9235440" y="4928616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3"/>
                </a:solidFill>
              </a:rPr>
              <a:t>8 GB</a:t>
            </a:r>
            <a:endParaRPr lang="en-US" sz="3400" dirty="0"/>
          </a:p>
        </p:txBody>
      </p:sp>
      <p:sp>
        <p:nvSpPr>
          <p:cNvPr id="53" name="Text 46"/>
          <p:cNvSpPr txBox="1"/>
          <p:nvPr/>
        </p:nvSpPr>
        <p:spPr>
          <a:xfrm>
            <a:off x="9235440" y="556869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Consumer edge-GPU VRAM, no memory faults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06  |  WEB UI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Interactive Audit &amp; Retest Console</a:t>
            </a:r>
            <a:endParaRPr lang="en-US" sz="3600" dirty="0"/>
          </a:p>
        </p:txBody>
      </p:sp>
      <p:sp>
        <p:nvSpPr>
          <p:cNvPr id="5" name="browser-window"/>
          <p:cNvSpPr/>
          <p:nvPr/>
        </p:nvSpPr>
        <p:spPr>
          <a:xfrm>
            <a:off x="548640" y="1554480"/>
            <a:ext cx="6766560" cy="4663440"/>
          </a:xfrm>
          <a:prstGeom prst="roundRect">
            <a:avLst>
              <a:gd name="adj" fmla="val 235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window-dot"/>
          <p:cNvSpPr/>
          <p:nvPr/>
        </p:nvSpPr>
        <p:spPr>
          <a:xfrm>
            <a:off x="749808" y="1737360"/>
            <a:ext cx="128016" cy="12801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window-dot"/>
          <p:cNvSpPr/>
          <p:nvPr/>
        </p:nvSpPr>
        <p:spPr>
          <a:xfrm>
            <a:off x="1005840" y="1737360"/>
            <a:ext cx="128016" cy="128016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window-dot"/>
          <p:cNvSpPr/>
          <p:nvPr/>
        </p:nvSpPr>
        <p:spPr>
          <a:xfrm>
            <a:off x="1261872" y="1737360"/>
            <a:ext cx="128016" cy="128016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url-bar"/>
          <p:cNvSpPr/>
          <p:nvPr/>
        </p:nvSpPr>
        <p:spPr>
          <a:xfrm>
            <a:off x="1645920" y="1664208"/>
            <a:ext cx="4206240" cy="274320"/>
          </a:xfrm>
          <a:prstGeom prst="roundRect">
            <a:avLst>
              <a:gd name="adj" fmla="val 4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645920" y="16642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hallucination-kup2.onrender.com</a:t>
            </a:r>
            <a:endParaRPr lang="en-US" sz="1100" dirty="0"/>
          </a:p>
        </p:txBody>
      </p:sp>
      <p:sp>
        <p:nvSpPr>
          <p:cNvPr id="11" name="mini-card"/>
          <p:cNvSpPr/>
          <p:nvPr/>
        </p:nvSpPr>
        <p:spPr>
          <a:xfrm>
            <a:off x="685800" y="2148840"/>
            <a:ext cx="2103120" cy="1188720"/>
          </a:xfrm>
          <a:prstGeom prst="roundRect">
            <a:avLst>
              <a:gd name="adj" fmla="val 923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22402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VULN-01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249631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9.8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1600200" y="26791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CVSS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3017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FIPS 203 | ML-KEM</a:t>
            </a:r>
            <a:endParaRPr lang="en-US" sz="1100" dirty="0"/>
          </a:p>
        </p:txBody>
      </p:sp>
      <p:sp>
        <p:nvSpPr>
          <p:cNvPr id="16" name="mini-card"/>
          <p:cNvSpPr/>
          <p:nvPr/>
        </p:nvSpPr>
        <p:spPr>
          <a:xfrm>
            <a:off x="2926080" y="2148840"/>
            <a:ext cx="2103120" cy="1188720"/>
          </a:xfrm>
          <a:prstGeom prst="roundRect">
            <a:avLst>
              <a:gd name="adj" fmla="val 923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063240" y="22402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VULN-02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3063240" y="249631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4"/>
                </a:solidFill>
              </a:rPr>
              <a:t>8.5</a:t>
            </a:r>
            <a:endParaRPr lang="en-US" sz="2800" dirty="0"/>
          </a:p>
        </p:txBody>
      </p:sp>
      <p:sp>
        <p:nvSpPr>
          <p:cNvPr id="19" name="Text 16"/>
          <p:cNvSpPr txBox="1"/>
          <p:nvPr/>
        </p:nvSpPr>
        <p:spPr>
          <a:xfrm>
            <a:off x="3840480" y="26791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CVSS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3063240" y="3017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FIPS 204 | ML-DSA</a:t>
            </a:r>
            <a:endParaRPr lang="en-US" sz="1100" dirty="0"/>
          </a:p>
        </p:txBody>
      </p:sp>
      <p:sp>
        <p:nvSpPr>
          <p:cNvPr id="21" name="mini-card"/>
          <p:cNvSpPr/>
          <p:nvPr/>
        </p:nvSpPr>
        <p:spPr>
          <a:xfrm>
            <a:off x="5166360" y="2148840"/>
            <a:ext cx="2103120" cy="1188720"/>
          </a:xfrm>
          <a:prstGeom prst="roundRect">
            <a:avLst>
              <a:gd name="adj" fmla="val 923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303520" y="22402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VULN-03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5303520" y="249631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9.1</a:t>
            </a:r>
            <a:endParaRPr lang="en-US" sz="2800" dirty="0"/>
          </a:p>
        </p:txBody>
      </p:sp>
      <p:sp>
        <p:nvSpPr>
          <p:cNvPr id="24" name="Text 21"/>
          <p:cNvSpPr txBox="1"/>
          <p:nvPr/>
        </p:nvSpPr>
        <p:spPr>
          <a:xfrm>
            <a:off x="6080760" y="26791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CVSS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5303520" y="3017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Entropy + NLI gate</a:t>
            </a:r>
            <a:endParaRPr lang="en-US" sz="1100" dirty="0"/>
          </a:p>
        </p:txBody>
      </p:sp>
      <p:sp>
        <p:nvSpPr>
          <p:cNvPr id="26" name="run-button"/>
          <p:cNvSpPr/>
          <p:nvPr/>
        </p:nvSpPr>
        <p:spPr>
          <a:xfrm>
            <a:off x="685800" y="3474720"/>
            <a:ext cx="3200400" cy="411480"/>
          </a:xfrm>
          <a:prstGeom prst="roundRect">
            <a:avLst>
              <a:gd name="adj" fmla="val 2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85800" y="3474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Demonstrate Exploit &amp; Retest</a:t>
            </a:r>
            <a:endParaRPr lang="en-US" sz="1400" dirty="0"/>
          </a:p>
        </p:txBody>
      </p:sp>
      <p:pic>
        <p:nvPicPr>
          <p:cNvPr id="28" name="Image 0" descr="Spinn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3566160"/>
            <a:ext cx="228600" cy="228600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4434840" y="3520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Live audit: monitoring active</a:t>
            </a:r>
            <a:endParaRPr lang="en-US" sz="1200" dirty="0"/>
          </a:p>
        </p:txBody>
      </p:sp>
      <p:sp>
        <p:nvSpPr>
          <p:cNvPr id="30" name="terminal"/>
          <p:cNvSpPr/>
          <p:nvPr/>
        </p:nvSpPr>
        <p:spPr>
          <a:xfrm>
            <a:off x="685800" y="4023360"/>
            <a:ext cx="6492240" cy="1280160"/>
          </a:xfrm>
          <a:prstGeom prst="roundRect">
            <a:avLst>
              <a:gd name="adj" fmla="val 857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822960" y="4114800"/>
            <a:ext cx="6217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/api/security-retest/VULN-01</a:t>
            </a:r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[exploit]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quantum eavesdrop ........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BLOCKED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[verify] 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SHA3-512 hash ............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[regress]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latency penalty ...........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1.5 ms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[status] 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retest ...................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PASSED</a:t>
            </a:r>
            <a:endParaRPr lang="en-US" sz="1100" dirty="0"/>
          </a:p>
        </p:txBody>
      </p:sp>
      <p:sp>
        <p:nvSpPr>
          <p:cNvPr id="32" name="status-pill"/>
          <p:cNvSpPr/>
          <p:nvPr/>
        </p:nvSpPr>
        <p:spPr>
          <a:xfrm>
            <a:off x="685800" y="5440680"/>
            <a:ext cx="2103120" cy="320040"/>
          </a:xfrm>
          <a:prstGeom prst="roundRect">
            <a:avLst>
              <a:gd name="adj" fmla="val 3428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685800" y="5440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100% BLOCKED</a:t>
            </a:r>
            <a:endParaRPr lang="en-US" sz="1100" dirty="0"/>
          </a:p>
        </p:txBody>
      </p:sp>
      <p:sp>
        <p:nvSpPr>
          <p:cNvPr id="34" name="status-pill"/>
          <p:cNvSpPr/>
          <p:nvPr/>
        </p:nvSpPr>
        <p:spPr>
          <a:xfrm>
            <a:off x="2926080" y="5440680"/>
            <a:ext cx="2103120" cy="320040"/>
          </a:xfrm>
          <a:prstGeom prst="roundRect">
            <a:avLst>
              <a:gd name="adj" fmla="val 3428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2926080" y="5440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Kyber-768 + Dilithium3</a:t>
            </a:r>
            <a:endParaRPr lang="en-US" sz="1100" dirty="0"/>
          </a:p>
        </p:txBody>
      </p:sp>
      <p:sp>
        <p:nvSpPr>
          <p:cNvPr id="36" name="status-pill"/>
          <p:cNvSpPr/>
          <p:nvPr/>
        </p:nvSpPr>
        <p:spPr>
          <a:xfrm>
            <a:off x="5166360" y="5440680"/>
            <a:ext cx="2103120" cy="320040"/>
          </a:xfrm>
          <a:prstGeom prst="roundRect">
            <a:avLst>
              <a:gd name="adj" fmla="val 3428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5166360" y="5440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SHA3-512 Hash Match</a:t>
            </a:r>
            <a:endParaRPr lang="en-US" sz="1100" dirty="0"/>
          </a:p>
        </p:txBody>
      </p:sp>
      <p:sp>
        <p:nvSpPr>
          <p:cNvPr id="38" name="status-pill"/>
          <p:cNvSpPr/>
          <p:nvPr/>
        </p:nvSpPr>
        <p:spPr>
          <a:xfrm>
            <a:off x="685800" y="5824728"/>
            <a:ext cx="2103120" cy="320040"/>
          </a:xfrm>
          <a:prstGeom prst="roundRect">
            <a:avLst>
              <a:gd name="adj" fmla="val 3428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685800" y="58247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Retest PASSED</a:t>
            </a:r>
            <a:endParaRPr lang="en-US" sz="1100" dirty="0"/>
          </a:p>
        </p:txBody>
      </p:sp>
      <p:sp>
        <p:nvSpPr>
          <p:cNvPr id="40" name="status-pill"/>
          <p:cNvSpPr/>
          <p:nvPr/>
        </p:nvSpPr>
        <p:spPr>
          <a:xfrm>
            <a:off x="2926080" y="5824728"/>
            <a:ext cx="2103120" cy="320040"/>
          </a:xfrm>
          <a:prstGeom prst="roundRect">
            <a:avLst>
              <a:gd name="adj" fmla="val 3428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2926080" y="58247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Gate PASS / WARN / BLOCK</a:t>
            </a:r>
            <a:endParaRPr lang="en-US" sz="1100" dirty="0"/>
          </a:p>
        </p:txBody>
      </p:sp>
      <p:sp>
        <p:nvSpPr>
          <p:cNvPr id="42" name="status-pill"/>
          <p:cNvSpPr/>
          <p:nvPr/>
        </p:nvSpPr>
        <p:spPr>
          <a:xfrm>
            <a:off x="5166360" y="5824728"/>
            <a:ext cx="2103120" cy="320040"/>
          </a:xfrm>
          <a:prstGeom prst="roundRect">
            <a:avLst>
              <a:gd name="adj" fmla="val 3428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5166360" y="58247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Live Audit Log Stream</a:t>
            </a:r>
            <a:endParaRPr lang="en-US" sz="1100" dirty="0"/>
          </a:p>
        </p:txBody>
      </p:sp>
      <p:sp>
        <p:nvSpPr>
          <p:cNvPr id="44" name="feature-row"/>
          <p:cNvSpPr/>
          <p:nvPr/>
        </p:nvSpPr>
        <p:spPr>
          <a:xfrm>
            <a:off x="7589520" y="1554480"/>
            <a:ext cx="4023360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5" name="icon-circle"/>
          <p:cNvSpPr/>
          <p:nvPr/>
        </p:nvSpPr>
        <p:spPr>
          <a:xfrm>
            <a:off x="7818120" y="182880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6" name="Image 1" descr="FaListA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1965960"/>
            <a:ext cx="274320" cy="274320"/>
          </a:xfrm>
          <a:prstGeom prst="rect">
            <a:avLst/>
          </a:prstGeom>
        </p:spPr>
      </p:pic>
      <p:sp>
        <p:nvSpPr>
          <p:cNvPr id="47" name="Text 42"/>
          <p:cNvSpPr txBox="1"/>
          <p:nvPr/>
        </p:nvSpPr>
        <p:spPr>
          <a:xfrm>
            <a:off x="8595360" y="17373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Interactive Vulnerability Cards</a:t>
            </a:r>
            <a:endParaRPr lang="en-US" sz="1500" dirty="0"/>
          </a:p>
        </p:txBody>
      </p:sp>
      <p:sp>
        <p:nvSpPr>
          <p:cNvPr id="48" name="Text 43"/>
          <p:cNvSpPr txBox="1"/>
          <p:nvPr/>
        </p:nvSpPr>
        <p:spPr>
          <a:xfrm>
            <a:off x="8595360" y="20574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Live CVSS scores, root causes and NIST remediation IDs</a:t>
            </a:r>
            <a:endParaRPr lang="en-US" sz="1200" dirty="0"/>
          </a:p>
        </p:txBody>
      </p:sp>
      <p:sp>
        <p:nvSpPr>
          <p:cNvPr id="49" name="feature-row"/>
          <p:cNvSpPr/>
          <p:nvPr/>
        </p:nvSpPr>
        <p:spPr>
          <a:xfrm>
            <a:off x="7589520" y="2743200"/>
            <a:ext cx="4023360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0" name="icon-circle"/>
          <p:cNvSpPr/>
          <p:nvPr/>
        </p:nvSpPr>
        <p:spPr>
          <a:xfrm>
            <a:off x="7818120" y="30175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1" name="Image 2" descr="FaPla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3154680"/>
            <a:ext cx="274320" cy="274320"/>
          </a:xfrm>
          <a:prstGeom prst="rect">
            <a:avLst/>
          </a:prstGeom>
        </p:spPr>
      </p:pic>
      <p:sp>
        <p:nvSpPr>
          <p:cNvPr id="52" name="Text 46"/>
          <p:cNvSpPr txBox="1"/>
          <p:nvPr/>
        </p:nvSpPr>
        <p:spPr>
          <a:xfrm>
            <a:off x="8595360" y="29260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Exploit &amp; Retest Button</a:t>
            </a:r>
            <a:endParaRPr lang="en-US" sz="1500" dirty="0"/>
          </a:p>
        </p:txBody>
      </p:sp>
      <p:sp>
        <p:nvSpPr>
          <p:cNvPr id="53" name="Text 47"/>
          <p:cNvSpPr txBox="1"/>
          <p:nvPr/>
        </p:nvSpPr>
        <p:spPr>
          <a:xfrm>
            <a:off x="8595360" y="324612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Judges simulate attack vectors and watch verification live</a:t>
            </a:r>
            <a:endParaRPr lang="en-US" sz="1200" dirty="0"/>
          </a:p>
        </p:txBody>
      </p:sp>
      <p:sp>
        <p:nvSpPr>
          <p:cNvPr id="54" name="feature-row"/>
          <p:cNvSpPr/>
          <p:nvPr/>
        </p:nvSpPr>
        <p:spPr>
          <a:xfrm>
            <a:off x="7589520" y="3931920"/>
            <a:ext cx="4023360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5" name="icon-circle"/>
          <p:cNvSpPr/>
          <p:nvPr/>
        </p:nvSpPr>
        <p:spPr>
          <a:xfrm>
            <a:off x="7818120" y="420624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6" name="Image 3" descr="FaTermina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4343400"/>
            <a:ext cx="274320" cy="274320"/>
          </a:xfrm>
          <a:prstGeom prst="rect">
            <a:avLst/>
          </a:prstGeom>
        </p:spPr>
      </p:pic>
      <p:sp>
        <p:nvSpPr>
          <p:cNvPr id="57" name="Text 50"/>
          <p:cNvSpPr txBox="1"/>
          <p:nvPr/>
        </p:nvSpPr>
        <p:spPr>
          <a:xfrm>
            <a:off x="8595360" y="4114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Live Retesting Terminal</a:t>
            </a:r>
            <a:endParaRPr lang="en-US" sz="1500" dirty="0"/>
          </a:p>
        </p:txBody>
      </p:sp>
      <p:sp>
        <p:nvSpPr>
          <p:cNvPr id="58" name="Text 51"/>
          <p:cNvSpPr txBox="1"/>
          <p:nvPr/>
        </p:nvSpPr>
        <p:spPr>
          <a:xfrm>
            <a:off x="8595360" y="44348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Structured evidence: exploit status, regression, latency</a:t>
            </a:r>
            <a:endParaRPr lang="en-US" sz="1200" dirty="0"/>
          </a:p>
        </p:txBody>
      </p:sp>
      <p:sp>
        <p:nvSpPr>
          <p:cNvPr id="59" name="feature-row"/>
          <p:cNvSpPr/>
          <p:nvPr/>
        </p:nvSpPr>
        <p:spPr>
          <a:xfrm>
            <a:off x="7589520" y="5120640"/>
            <a:ext cx="4023360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0" name="icon-circle"/>
          <p:cNvSpPr/>
          <p:nvPr/>
        </p:nvSpPr>
        <p:spPr>
          <a:xfrm>
            <a:off x="7818120" y="53949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1" name="Image 4" descr="FaSyncAl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0" y="5532120"/>
            <a:ext cx="274320" cy="274320"/>
          </a:xfrm>
          <a:prstGeom prst="rect">
            <a:avLst/>
          </a:prstGeom>
        </p:spPr>
      </p:pic>
      <p:sp>
        <p:nvSpPr>
          <p:cNvPr id="62" name="Text 54"/>
          <p:cNvSpPr txBox="1"/>
          <p:nvPr/>
        </p:nvSpPr>
        <p:spPr>
          <a:xfrm>
            <a:off x="8595360" y="53035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Live Audit Animation</a:t>
            </a:r>
            <a:endParaRPr lang="en-US" sz="1500" dirty="0"/>
          </a:p>
        </p:txBody>
      </p:sp>
      <p:sp>
        <p:nvSpPr>
          <p:cNvPr id="63" name="Text 55"/>
          <p:cNvSpPr txBox="1"/>
          <p:nvPr/>
        </p:nvSpPr>
        <p:spPr>
          <a:xfrm>
            <a:off x="8595360" y="56235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Spinner and timestamp show continuous monitoring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07  |  EMPIRICAL BENCHMARKS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Benchmark Evidence &amp; System Schematics</a:t>
            </a:r>
            <a:endParaRPr lang="en-US" sz="3600" dirty="0"/>
          </a:p>
        </p:txBody>
      </p:sp>
      <p:sp>
        <p:nvSpPr>
          <p:cNvPr id="5" name="arch-card"/>
          <p:cNvSpPr/>
          <p:nvPr/>
        </p:nvSpPr>
        <p:spPr>
          <a:xfrm>
            <a:off x="548640" y="1554480"/>
            <a:ext cx="3657600" cy="4663440"/>
          </a:xfrm>
          <a:prstGeom prst="roundRect">
            <a:avLst>
              <a:gd name="adj" fmla="val 3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arch-frame"/>
          <p:cNvSpPr/>
          <p:nvPr/>
        </p:nvSpPr>
        <p:spPr>
          <a:xfrm>
            <a:off x="731520" y="1737360"/>
            <a:ext cx="3291840" cy="3931920"/>
          </a:xfrm>
          <a:prstGeom prst="roundRect">
            <a:avLst>
              <a:gd name="adj" fmla="val 222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7" name="Image 0" descr="Multi-layer security architecture: edge hospitals, post-quantum security layer, federated server, inference and reliability assess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658" y="1828800"/>
            <a:ext cx="2511564" cy="3749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1520" y="5760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Multi-layer security architecture</a:t>
            </a:r>
            <a:endParaRPr lang="en-US" sz="1200" dirty="0"/>
          </a:p>
        </p:txBody>
      </p:sp>
      <p:sp>
        <p:nvSpPr>
          <p:cNvPr id="9" name="loss-card"/>
          <p:cNvSpPr/>
          <p:nvPr/>
        </p:nvSpPr>
        <p:spPr>
          <a:xfrm>
            <a:off x="4389120" y="1554480"/>
            <a:ext cx="7223760" cy="2240280"/>
          </a:xfrm>
          <a:prstGeom prst="roundRect">
            <a:avLst>
              <a:gd name="adj" fmla="val 489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617720" y="16642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Post-remediation loss convergence</a:t>
            </a:r>
            <a:endParaRPr lang="en-US" sz="14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526280" y="1965960"/>
          <a:ext cx="484632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9555480" y="22402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1.30 → 0.81</a:t>
            </a:r>
            <a:endParaRPr lang="en-US" sz="3000" dirty="0"/>
          </a:p>
        </p:txBody>
      </p:sp>
      <p:sp>
        <p:nvSpPr>
          <p:cNvPr id="13" name="Text 8"/>
          <p:cNvSpPr txBox="1"/>
          <p:nvPr/>
        </p:nvSpPr>
        <p:spPr>
          <a:xfrm>
            <a:off x="9555480" y="28346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Global FedAvg cross-entropy loss over federated rounds</a:t>
            </a:r>
            <a:endParaRPr lang="en-US" sz="1200" dirty="0"/>
          </a:p>
        </p:txBody>
      </p:sp>
      <p:sp>
        <p:nvSpPr>
          <p:cNvPr id="14" name="payload-card"/>
          <p:cNvSpPr/>
          <p:nvPr/>
        </p:nvSpPr>
        <p:spPr>
          <a:xfrm>
            <a:off x="4389120" y="3977640"/>
            <a:ext cx="7223760" cy="2240280"/>
          </a:xfrm>
          <a:prstGeom prst="roundRect">
            <a:avLst>
              <a:gd name="adj" fmla="val 489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4617720" y="40873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Payload per federated update (MB, log scale)</a:t>
            </a:r>
            <a:endParaRPr lang="en-US" sz="1400" dirty="0"/>
          </a:p>
        </p:txBody>
      </p:sp>
      <p:graphicFrame>
        <p:nvGraphicFramePr>
          <p:cNvPr id="16" name="Chart 1" descr=""/>
          <p:cNvGraphicFramePr/>
          <p:nvPr/>
        </p:nvGraphicFramePr>
        <p:xfrm>
          <a:off x="4526280" y="4389120"/>
          <a:ext cx="484632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7" name="Text 11"/>
          <p:cNvSpPr txBox="1"/>
          <p:nvPr/>
        </p:nvSpPr>
        <p:spPr>
          <a:xfrm>
            <a:off x="9555480" y="45720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4"/>
                </a:solidFill>
              </a:rPr>
              <a:t>99.2%</a:t>
            </a:r>
            <a:endParaRPr lang="en-US" sz="3600" dirty="0"/>
          </a:p>
        </p:txBody>
      </p:sp>
      <p:sp>
        <p:nvSpPr>
          <p:cNvPr id="18" name="Text 12"/>
          <p:cNvSpPr txBox="1"/>
          <p:nvPr/>
        </p:nvSpPr>
        <p:spPr>
          <a:xfrm>
            <a:off x="9555480" y="51663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WAN payload compression: 13.35 GB down to 4.01 MB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08  |  SECURITY ENGINEERING SPECIFICATIONS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Technology Stack</a:t>
            </a:r>
            <a:endParaRPr lang="en-US" sz="3600" dirty="0"/>
          </a:p>
        </p:txBody>
      </p:sp>
      <p:sp>
        <p:nvSpPr>
          <p:cNvPr id="5" name="stack-header"/>
          <p:cNvSpPr/>
          <p:nvPr/>
        </p:nvSpPr>
        <p:spPr>
          <a:xfrm>
            <a:off x="548640" y="1554480"/>
            <a:ext cx="3566160" cy="731520"/>
          </a:xfrm>
          <a:prstGeom prst="roundRect">
            <a:avLst>
              <a:gd name="adj" fmla="val 15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icon-circle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Fa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83080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15544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Post-Quantum &amp; Cryptography</a:t>
            </a:r>
            <a:endParaRPr lang="en-US" sz="1600" dirty="0"/>
          </a:p>
        </p:txBody>
      </p:sp>
      <p:sp>
        <p:nvSpPr>
          <p:cNvPr id="9" name="stack-tile"/>
          <p:cNvSpPr/>
          <p:nvPr/>
        </p:nvSpPr>
        <p:spPr>
          <a:xfrm>
            <a:off x="548640" y="2423160"/>
            <a:ext cx="356616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77240" y="25511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CRYSTALS-Kyber-768  |  FIPS 203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Module-LWE key encapsulation</a:t>
            </a:r>
            <a:endParaRPr lang="en-US" sz="1200" dirty="0"/>
          </a:p>
        </p:txBody>
      </p:sp>
      <p:sp>
        <p:nvSpPr>
          <p:cNvPr id="12" name="stack-tile"/>
          <p:cNvSpPr/>
          <p:nvPr/>
        </p:nvSpPr>
        <p:spPr>
          <a:xfrm>
            <a:off x="548640" y="3383280"/>
            <a:ext cx="356616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77240" y="35112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CRYSTALS-Dilithium3  |  FIPS 204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777240" y="3840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Lattice signatures for client provenance</a:t>
            </a:r>
            <a:endParaRPr lang="en-US" sz="1200" dirty="0"/>
          </a:p>
        </p:txBody>
      </p:sp>
      <p:sp>
        <p:nvSpPr>
          <p:cNvPr id="15" name="stack-tile"/>
          <p:cNvSpPr/>
          <p:nvPr/>
        </p:nvSpPr>
        <p:spPr>
          <a:xfrm>
            <a:off x="548640" y="4343400"/>
            <a:ext cx="356616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77240" y="44714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AES-256-GCM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777240" y="4800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Hardware-accelerated authenticated cipher</a:t>
            </a:r>
            <a:endParaRPr lang="en-US" sz="1200" dirty="0"/>
          </a:p>
        </p:txBody>
      </p:sp>
      <p:sp>
        <p:nvSpPr>
          <p:cNvPr id="18" name="stack-tile"/>
          <p:cNvSpPr/>
          <p:nvPr/>
        </p:nvSpPr>
        <p:spPr>
          <a:xfrm>
            <a:off x="548640" y="5303520"/>
            <a:ext cx="356616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77240" y="5431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SHA3-512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777240" y="5760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Zero in-transit bit tampering</a:t>
            </a:r>
            <a:endParaRPr lang="en-US" sz="1200" dirty="0"/>
          </a:p>
        </p:txBody>
      </p:sp>
      <p:sp>
        <p:nvSpPr>
          <p:cNvPr id="21" name="stack-header"/>
          <p:cNvSpPr/>
          <p:nvPr/>
        </p:nvSpPr>
        <p:spPr>
          <a:xfrm>
            <a:off x="4297680" y="1554480"/>
            <a:ext cx="3566160" cy="731520"/>
          </a:xfrm>
          <a:prstGeom prst="roundRect">
            <a:avLst>
              <a:gd name="adj" fmla="val 15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icon-circle"/>
          <p:cNvSpPr/>
          <p:nvPr/>
        </p:nvSpPr>
        <p:spPr>
          <a:xfrm>
            <a:off x="4480560" y="16459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3" name="Image 1" descr="FaLayerGrou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783080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5212080" y="15544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Application &amp; Microservices</a:t>
            </a:r>
            <a:endParaRPr lang="en-US" sz="1600" dirty="0"/>
          </a:p>
        </p:txBody>
      </p:sp>
      <p:sp>
        <p:nvSpPr>
          <p:cNvPr id="25" name="stack-tile"/>
          <p:cNvSpPr/>
          <p:nvPr/>
        </p:nvSpPr>
        <p:spPr>
          <a:xfrm>
            <a:off x="4297680" y="2423160"/>
            <a:ext cx="356616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4526280" y="25511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FastAPI &amp; Uvicorn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452628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Async, high-throughput REST API</a:t>
            </a:r>
            <a:endParaRPr lang="en-US" sz="1200" dirty="0"/>
          </a:p>
        </p:txBody>
      </p:sp>
      <p:sp>
        <p:nvSpPr>
          <p:cNvPr id="28" name="stack-tile"/>
          <p:cNvSpPr/>
          <p:nvPr/>
        </p:nvSpPr>
        <p:spPr>
          <a:xfrm>
            <a:off x="4297680" y="3383280"/>
            <a:ext cx="356616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4526280" y="35112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Pydantic v2</a:t>
            </a:r>
            <a:endParaRPr lang="en-US" sz="1500" dirty="0"/>
          </a:p>
        </p:txBody>
      </p:sp>
      <p:sp>
        <p:nvSpPr>
          <p:cNvPr id="30" name="Text 25"/>
          <p:cNvSpPr txBox="1"/>
          <p:nvPr/>
        </p:nvSpPr>
        <p:spPr>
          <a:xfrm>
            <a:off x="4526280" y="3840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Strict schema validation blocks injection</a:t>
            </a:r>
            <a:endParaRPr lang="en-US" sz="1200" dirty="0"/>
          </a:p>
        </p:txBody>
      </p:sp>
      <p:sp>
        <p:nvSpPr>
          <p:cNvPr id="31" name="stack-tile"/>
          <p:cNvSpPr/>
          <p:nvPr/>
        </p:nvSpPr>
        <p:spPr>
          <a:xfrm>
            <a:off x="4297680" y="4343400"/>
            <a:ext cx="356616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4526280" y="44714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Docker</a:t>
            </a:r>
            <a:endParaRPr lang="en-US" sz="1500" dirty="0"/>
          </a:p>
        </p:txBody>
      </p:sp>
      <p:sp>
        <p:nvSpPr>
          <p:cNvPr id="33" name="Text 28"/>
          <p:cNvSpPr txBox="1"/>
          <p:nvPr/>
        </p:nvSpPr>
        <p:spPr>
          <a:xfrm>
            <a:off x="4526280" y="4800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Isolated multi-stage deployment runtime</a:t>
            </a:r>
            <a:endParaRPr lang="en-US" sz="1200" dirty="0"/>
          </a:p>
        </p:txBody>
      </p:sp>
      <p:sp>
        <p:nvSpPr>
          <p:cNvPr id="34" name="stack-tile"/>
          <p:cNvSpPr/>
          <p:nvPr/>
        </p:nvSpPr>
        <p:spPr>
          <a:xfrm>
            <a:off x="4297680" y="5303520"/>
            <a:ext cx="356616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4526280" y="5431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Jinja2 &amp; TailwindCSS</a:t>
            </a:r>
            <a:endParaRPr lang="en-US" sz="1500" dirty="0"/>
          </a:p>
        </p:txBody>
      </p:sp>
      <p:sp>
        <p:nvSpPr>
          <p:cNvPr id="36" name="Text 31"/>
          <p:cNvSpPr txBox="1"/>
          <p:nvPr/>
        </p:nvSpPr>
        <p:spPr>
          <a:xfrm>
            <a:off x="4526280" y="5760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Responsive telemetry &amp; exploit console</a:t>
            </a:r>
            <a:endParaRPr lang="en-US" sz="1200" dirty="0"/>
          </a:p>
        </p:txBody>
      </p:sp>
      <p:sp>
        <p:nvSpPr>
          <p:cNvPr id="37" name="stack-header"/>
          <p:cNvSpPr/>
          <p:nvPr/>
        </p:nvSpPr>
        <p:spPr>
          <a:xfrm>
            <a:off x="8046720" y="1554480"/>
            <a:ext cx="3566160" cy="731520"/>
          </a:xfrm>
          <a:prstGeom prst="roundRect">
            <a:avLst>
              <a:gd name="adj" fmla="val 15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8" name="icon-circle"/>
          <p:cNvSpPr/>
          <p:nvPr/>
        </p:nvSpPr>
        <p:spPr>
          <a:xfrm>
            <a:off x="8229600" y="164592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9" name="Image 2" descr="FaBrai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1783080"/>
            <a:ext cx="274320" cy="274320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8961120" y="15544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AI Integrity &amp; Verification</a:t>
            </a:r>
            <a:endParaRPr lang="en-US" sz="1600" dirty="0"/>
          </a:p>
        </p:txBody>
      </p:sp>
      <p:sp>
        <p:nvSpPr>
          <p:cNvPr id="41" name="stack-tile"/>
          <p:cNvSpPr/>
          <p:nvPr/>
        </p:nvSpPr>
        <p:spPr>
          <a:xfrm>
            <a:off x="8046720" y="2423160"/>
            <a:ext cx="356616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2" name="Text 36"/>
          <p:cNvSpPr txBox="1"/>
          <p:nvPr/>
        </p:nvSpPr>
        <p:spPr>
          <a:xfrm>
            <a:off x="8275320" y="25511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PEFT / QLoRA</a:t>
            </a:r>
            <a:endParaRPr lang="en-US" sz="1500" dirty="0"/>
          </a:p>
        </p:txBody>
      </p:sp>
      <p:sp>
        <p:nvSpPr>
          <p:cNvPr id="43" name="Text 37"/>
          <p:cNvSpPr txBox="1"/>
          <p:nvPr/>
        </p:nvSpPr>
        <p:spPr>
          <a:xfrm>
            <a:off x="827532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Rank r=16, alpha=32 adapter fine-tuning</a:t>
            </a:r>
            <a:endParaRPr lang="en-US" sz="1200" dirty="0"/>
          </a:p>
        </p:txBody>
      </p:sp>
      <p:sp>
        <p:nvSpPr>
          <p:cNvPr id="44" name="stack-tile"/>
          <p:cNvSpPr/>
          <p:nvPr/>
        </p:nvSpPr>
        <p:spPr>
          <a:xfrm>
            <a:off x="8046720" y="3383280"/>
            <a:ext cx="356616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5" name="Text 39"/>
          <p:cNvSpPr txBox="1"/>
          <p:nvPr/>
        </p:nvSpPr>
        <p:spPr>
          <a:xfrm>
            <a:off x="8275320" y="35112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BioGPT / DistilGPT-2</a:t>
            </a:r>
            <a:endParaRPr lang="en-US" sz="1500" dirty="0"/>
          </a:p>
        </p:txBody>
      </p:sp>
      <p:sp>
        <p:nvSpPr>
          <p:cNvPr id="46" name="Text 40"/>
          <p:cNvSpPr txBox="1"/>
          <p:nvPr/>
        </p:nvSpPr>
        <p:spPr>
          <a:xfrm>
            <a:off x="8275320" y="3840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Clinical foundation model backbones</a:t>
            </a:r>
            <a:endParaRPr lang="en-US" sz="1200" dirty="0"/>
          </a:p>
        </p:txBody>
      </p:sp>
      <p:sp>
        <p:nvSpPr>
          <p:cNvPr id="47" name="stack-tile"/>
          <p:cNvSpPr/>
          <p:nvPr/>
        </p:nvSpPr>
        <p:spPr>
          <a:xfrm>
            <a:off x="8046720" y="4343400"/>
            <a:ext cx="356616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8" name="Text 42"/>
          <p:cNvSpPr txBox="1"/>
          <p:nvPr/>
        </p:nvSpPr>
        <p:spPr>
          <a:xfrm>
            <a:off x="8275320" y="44714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PubMed &amp; UMLS Grounding</a:t>
            </a:r>
            <a:endParaRPr lang="en-US" sz="1500" dirty="0"/>
          </a:p>
        </p:txBody>
      </p:sp>
      <p:sp>
        <p:nvSpPr>
          <p:cNvPr id="49" name="Text 43"/>
          <p:cNvSpPr txBox="1"/>
          <p:nvPr/>
        </p:nvSpPr>
        <p:spPr>
          <a:xfrm>
            <a:off x="8275320" y="4800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Real-time medical ontology checks</a:t>
            </a:r>
            <a:endParaRPr lang="en-US" sz="1200" dirty="0"/>
          </a:p>
        </p:txBody>
      </p:sp>
      <p:sp>
        <p:nvSpPr>
          <p:cNvPr id="50" name="stack-tile"/>
          <p:cNvSpPr/>
          <p:nvPr/>
        </p:nvSpPr>
        <p:spPr>
          <a:xfrm>
            <a:off x="8046720" y="5303520"/>
            <a:ext cx="356616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1" name="Text 45"/>
          <p:cNvSpPr txBox="1"/>
          <p:nvPr/>
        </p:nvSpPr>
        <p:spPr>
          <a:xfrm>
            <a:off x="8275320" y="5431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Shannon Predictive Entropy</a:t>
            </a:r>
            <a:endParaRPr lang="en-US" sz="1500" dirty="0"/>
          </a:p>
        </p:txBody>
      </p:sp>
      <p:sp>
        <p:nvSpPr>
          <p:cNvPr id="52" name="Text 46"/>
          <p:cNvSpPr txBox="1"/>
          <p:nvPr/>
        </p:nvSpPr>
        <p:spPr>
          <a:xfrm>
            <a:off x="8275320" y="5760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Real-time token divergence scan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09  |  SUMMARY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Rubric Compliance Scorecard</a:t>
            </a:r>
            <a:endParaRPr lang="en-US" sz="3600" dirty="0"/>
          </a:p>
        </p:txBody>
      </p:sp>
      <p:sp>
        <p:nvSpPr>
          <p:cNvPr id="5" name="rubric-row"/>
          <p:cNvSpPr/>
          <p:nvPr/>
        </p:nvSpPr>
        <p:spPr>
          <a:xfrm>
            <a:off x="548640" y="1554480"/>
            <a:ext cx="676656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icon-circle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Image 0" descr="Fa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970" y="1863090"/>
            <a:ext cx="251460" cy="2514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16459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1.  Vulnerability Identification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1463040" y="194767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3 real architectural flaws across transport, logic and output layers (CVSS 9.8, 8.5, 9.1)</a:t>
            </a:r>
            <a:endParaRPr lang="en-US" sz="1300" dirty="0"/>
          </a:p>
        </p:txBody>
      </p:sp>
      <p:sp>
        <p:nvSpPr>
          <p:cNvPr id="10" name="rubric-row"/>
          <p:cNvSpPr/>
          <p:nvPr/>
        </p:nvSpPr>
        <p:spPr>
          <a:xfrm>
            <a:off x="548640" y="2514600"/>
            <a:ext cx="676656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icon-circle"/>
          <p:cNvSpPr/>
          <p:nvPr/>
        </p:nvSpPr>
        <p:spPr>
          <a:xfrm>
            <a:off x="777240" y="2697480"/>
            <a:ext cx="502920" cy="5029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2" name="Image 1" descr="Fa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970" y="2823210"/>
            <a:ext cx="251460" cy="2514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63040" y="26060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2.  Safe Exploit Demonstration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463040" y="290779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Simulated exploit triggers built into the web dashboard and REST API</a:t>
            </a:r>
            <a:endParaRPr lang="en-US" sz="1300" dirty="0"/>
          </a:p>
        </p:txBody>
      </p:sp>
      <p:sp>
        <p:nvSpPr>
          <p:cNvPr id="15" name="rubric-row"/>
          <p:cNvSpPr/>
          <p:nvPr/>
        </p:nvSpPr>
        <p:spPr>
          <a:xfrm>
            <a:off x="548640" y="3474720"/>
            <a:ext cx="676656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icon-circle"/>
          <p:cNvSpPr/>
          <p:nvPr/>
        </p:nvSpPr>
        <p:spPr>
          <a:xfrm>
            <a:off x="777240" y="3657600"/>
            <a:ext cx="502920" cy="5029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7" name="Image 2" descr="Fa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970" y="3783330"/>
            <a:ext cx="251460" cy="2514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463040" y="35661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3.  Root-Cause Secure Fixes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1463040" y="386791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NIST FIPS 203/204 post-quantum primitives plus dual-stage entropy filters</a:t>
            </a:r>
            <a:endParaRPr lang="en-US" sz="1300" dirty="0"/>
          </a:p>
        </p:txBody>
      </p:sp>
      <p:sp>
        <p:nvSpPr>
          <p:cNvPr id="20" name="rubric-row"/>
          <p:cNvSpPr/>
          <p:nvPr/>
        </p:nvSpPr>
        <p:spPr>
          <a:xfrm>
            <a:off x="548640" y="4434840"/>
            <a:ext cx="676656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icon-circle"/>
          <p:cNvSpPr/>
          <p:nvPr/>
        </p:nvSpPr>
        <p:spPr>
          <a:xfrm>
            <a:off x="777240" y="4617720"/>
            <a:ext cx="502920" cy="5029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2" name="Image 3" descr="Fa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970" y="4743450"/>
            <a:ext cx="251460" cy="25146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463040" y="45262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4.  Retesting &amp; Regression Proof</a:t>
            </a:r>
            <a:endParaRPr lang="en-US" sz="1600" dirty="0"/>
          </a:p>
        </p:txBody>
      </p:sp>
      <p:sp>
        <p:nvSpPr>
          <p:cNvPr id="24" name="Text 17"/>
          <p:cNvSpPr txBox="1"/>
          <p:nvPr/>
        </p:nvSpPr>
        <p:spPr>
          <a:xfrm>
            <a:off x="1463040" y="482803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100% of exploits neutralized, 0% functional regression, &lt; 1.5 ms overhead</a:t>
            </a:r>
            <a:endParaRPr lang="en-US" sz="1300" dirty="0"/>
          </a:p>
        </p:txBody>
      </p:sp>
      <p:sp>
        <p:nvSpPr>
          <p:cNvPr id="25" name="rubric-row"/>
          <p:cNvSpPr/>
          <p:nvPr/>
        </p:nvSpPr>
        <p:spPr>
          <a:xfrm>
            <a:off x="548640" y="5394960"/>
            <a:ext cx="676656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6" name="icon-circle"/>
          <p:cNvSpPr/>
          <p:nvPr/>
        </p:nvSpPr>
        <p:spPr>
          <a:xfrm>
            <a:off x="777240" y="5577840"/>
            <a:ext cx="502920" cy="5029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7" name="Image 4" descr="Fa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970" y="5703570"/>
            <a:ext cx="251460" cy="25146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463040" y="54864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5.  Operational Readiness</a:t>
            </a:r>
            <a:endParaRPr lang="en-US" sz="1600" dirty="0"/>
          </a:p>
        </p:txBody>
      </p:sp>
      <p:sp>
        <p:nvSpPr>
          <p:cNvPr id="29" name="Text 21"/>
          <p:cNvSpPr txBox="1"/>
          <p:nvPr/>
        </p:nvSpPr>
        <p:spPr>
          <a:xfrm>
            <a:off x="1463040" y="578815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Live on Render, open source on GitHub, reproducible via automated test suites</a:t>
            </a:r>
            <a:endParaRPr lang="en-US" sz="1300" dirty="0"/>
          </a:p>
        </p:txBody>
      </p:sp>
      <p:sp>
        <p:nvSpPr>
          <p:cNvPr id="30" name="links-card"/>
          <p:cNvSpPr/>
          <p:nvPr/>
        </p:nvSpPr>
        <p:spPr>
          <a:xfrm>
            <a:off x="7589520" y="1554480"/>
            <a:ext cx="4023360" cy="4663440"/>
          </a:xfrm>
          <a:prstGeom prst="roundRect">
            <a:avLst>
              <a:gd name="adj" fmla="val 272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1" name="Text 23"/>
          <p:cNvSpPr txBox="1"/>
          <p:nvPr/>
        </p:nvSpPr>
        <p:spPr>
          <a:xfrm>
            <a:off x="7863840" y="16916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LIVE DEMO &amp; JUDGE LINKS</a:t>
            </a:r>
            <a:endParaRPr lang="en-US" sz="1200" dirty="0"/>
          </a:p>
        </p:txBody>
      </p:sp>
      <p:sp>
        <p:nvSpPr>
          <p:cNvPr id="32" name="qr-frame"/>
          <p:cNvSpPr/>
          <p:nvPr/>
        </p:nvSpPr>
        <p:spPr>
          <a:xfrm>
            <a:off x="7863840" y="2011680"/>
            <a:ext cx="1417320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33" name="Image 5" descr="QR code linking to the live web applicati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6992" y="2084832"/>
            <a:ext cx="1271016" cy="1271016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9464040" y="23317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Scan to open the live exploit console</a:t>
            </a:r>
            <a:endParaRPr lang="en-US" sz="1400" dirty="0"/>
          </a:p>
        </p:txBody>
      </p:sp>
      <p:sp>
        <p:nvSpPr>
          <p:cNvPr id="35" name="Text 26"/>
          <p:cNvSpPr txBox="1"/>
          <p:nvPr/>
        </p:nvSpPr>
        <p:spPr>
          <a:xfrm>
            <a:off x="7863840" y="361188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Live web app</a:t>
            </a:r>
            <a:endParaRPr lang="en-US" sz="1000" dirty="0"/>
          </a:p>
        </p:txBody>
      </p:sp>
      <p:sp>
        <p:nvSpPr>
          <p:cNvPr id="36" name="Text 27"/>
          <p:cNvSpPr txBox="1"/>
          <p:nvPr/>
        </p:nvSpPr>
        <p:spPr>
          <a:xfrm>
            <a:off x="7863840" y="37947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u="sng" dirty="0">
                <a:solidFill>
                  <a:srgbClr val="22D3EE"/>
                </a:solidFill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hallucination-kup2.onrender.com</a:t>
            </a:r>
            <a:endParaRPr lang="en-US" sz="1200" dirty="0"/>
          </a:p>
        </p:txBody>
      </p:sp>
      <p:sp>
        <p:nvSpPr>
          <p:cNvPr id="37" name="Text 28"/>
          <p:cNvSpPr txBox="1"/>
          <p:nvPr/>
        </p:nvSpPr>
        <p:spPr>
          <a:xfrm>
            <a:off x="7863840" y="413308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GitHub source &amp; security engine</a:t>
            </a:r>
            <a:endParaRPr lang="en-US" sz="1000" dirty="0"/>
          </a:p>
        </p:txBody>
      </p:sp>
      <p:sp>
        <p:nvSpPr>
          <p:cNvPr id="38" name="Text 29"/>
          <p:cNvSpPr txBox="1"/>
          <p:nvPr/>
        </p:nvSpPr>
        <p:spPr>
          <a:xfrm>
            <a:off x="7863840" y="431596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u="sng" dirty="0">
                <a:solidFill>
                  <a:srgbClr val="22D3EE"/>
                </a:solidFill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github.com/mritunjay065/hallucination</a:t>
            </a:r>
            <a:endParaRPr lang="en-US" sz="1200" dirty="0"/>
          </a:p>
        </p:txBody>
      </p:sp>
      <p:sp>
        <p:nvSpPr>
          <p:cNvPr id="39" name="Text 30"/>
          <p:cNvSpPr txBox="1"/>
          <p:nvPr/>
        </p:nvSpPr>
        <p:spPr>
          <a:xfrm>
            <a:off x="7863840" y="465429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Automated retest command</a:t>
            </a:r>
            <a:endParaRPr lang="en-US" sz="1000" dirty="0"/>
          </a:p>
        </p:txBody>
      </p:sp>
      <p:sp>
        <p:nvSpPr>
          <p:cNvPr id="40" name="Text 31"/>
          <p:cNvSpPr txBox="1"/>
          <p:nvPr/>
        </p:nvSpPr>
        <p:spPr>
          <a:xfrm>
            <a:off x="7863840" y="483717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pytest tests/test_framework.py</a:t>
            </a:r>
            <a:endParaRPr lang="en-US" sz="1200" dirty="0"/>
          </a:p>
        </p:txBody>
      </p:sp>
      <p:sp>
        <p:nvSpPr>
          <p:cNvPr id="41" name="Text 32"/>
          <p:cNvSpPr txBox="1"/>
          <p:nvPr/>
        </p:nvSpPr>
        <p:spPr>
          <a:xfrm>
            <a:off x="7863840" y="517550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Security audit endpoints</a:t>
            </a:r>
            <a:endParaRPr lang="en-US" sz="1000" dirty="0"/>
          </a:p>
        </p:txBody>
      </p:sp>
      <p:sp>
        <p:nvSpPr>
          <p:cNvPr id="42" name="Text 33"/>
          <p:cNvSpPr txBox="1"/>
          <p:nvPr/>
        </p:nvSpPr>
        <p:spPr>
          <a:xfrm>
            <a:off x="7863840" y="535838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GET /api/security-audit  |  POST /api/security-retest/{id}</a:t>
            </a:r>
            <a:endParaRPr lang="en-US" sz="1200" dirty="0"/>
          </a:p>
        </p:txBody>
      </p:sp>
      <p:sp>
        <p:nvSpPr>
          <p:cNvPr id="43" name="Text 34"/>
          <p:cNvSpPr txBox="1"/>
          <p:nvPr/>
        </p:nvSpPr>
        <p:spPr>
          <a:xfrm>
            <a:off x="7863840" y="569671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3D architecture visualizer</a:t>
            </a:r>
            <a:endParaRPr lang="en-US" sz="1000" dirty="0"/>
          </a:p>
        </p:txBody>
      </p:sp>
      <p:sp>
        <p:nvSpPr>
          <p:cNvPr id="44" name="Text 35"/>
          <p:cNvSpPr txBox="1"/>
          <p:nvPr/>
        </p:nvSpPr>
        <p:spPr>
          <a:xfrm>
            <a:off x="7863840" y="587959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interactive_presentation_3d.html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QC Cyber Dark">
  <a:themeElements>
    <a:clrScheme name="PQC Cyber Dark">
      <a:dk1>
        <a:srgbClr val="0B1020"/>
      </a:dk1>
      <a:lt1>
        <a:srgbClr val="FFFFFF"/>
      </a:lt1>
      <a:dk2>
        <a:srgbClr val="172042"/>
      </a:dk2>
      <a:lt2>
        <a:srgbClr val="A9B6CC"/>
      </a:lt2>
      <a:accent1>
        <a:srgbClr val="22D3EE"/>
      </a:accent1>
      <a:accent2>
        <a:srgbClr val="A78BFA"/>
      </a:accent2>
      <a:accent3>
        <a:srgbClr val="F87171"/>
      </a:accent3>
      <a:accent4>
        <a:srgbClr val="FBBF24"/>
      </a:accent4>
      <a:accent5>
        <a:srgbClr val="34D399"/>
      </a:accent5>
      <a:accent6>
        <a:srgbClr val="60A5FA"/>
      </a:accent6>
      <a:hlink>
        <a:srgbClr val="22D3EE"/>
      </a:hlink>
      <a:folHlink>
        <a:srgbClr val="A78BFA"/>
      </a:folHlink>
    </a:clrScheme>
    <a:fontScheme name="PQC Cyber Dark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PQC-FedLoRA: Application Security Inspection &amp; PQC Remediation</dc:title>
  <dc:subject>PptxGenJS Presentation</dc:subject>
  <dc:creator>ALGOTHON'26 Team</dc:creator>
  <cp:lastModifiedBy>ALGOTHON'26 Team</cp:lastModifiedBy>
  <cp:revision>1</cp:revision>
  <dcterms:created xsi:type="dcterms:W3CDTF">2026-10-04T08:50:18Z</dcterms:created>
  <dcterms:modified xsi:type="dcterms:W3CDTF">2026-10-04T08:50:18Z</dcterms:modified>
</cp:coreProperties>
</file>